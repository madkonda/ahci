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69" r:id="rId2"/>
  </p:sldMasterIdLst>
  <p:notesMasterIdLst>
    <p:notesMasterId r:id="rId20"/>
  </p:notesMasterIdLst>
  <p:sldIdLst>
    <p:sldId id="261" r:id="rId3"/>
    <p:sldId id="257" r:id="rId4"/>
    <p:sldId id="262" r:id="rId5"/>
    <p:sldId id="265" r:id="rId6"/>
    <p:sldId id="281" r:id="rId7"/>
    <p:sldId id="266" r:id="rId8"/>
    <p:sldId id="269" r:id="rId9"/>
    <p:sldId id="283" r:id="rId10"/>
    <p:sldId id="282" r:id="rId11"/>
    <p:sldId id="274" r:id="rId12"/>
    <p:sldId id="268" r:id="rId13"/>
    <p:sldId id="277" r:id="rId14"/>
    <p:sldId id="278" r:id="rId15"/>
    <p:sldId id="271" r:id="rId16"/>
    <p:sldId id="276" r:id="rId17"/>
    <p:sldId id="284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8"/>
    <p:restoredTop sz="75652"/>
  </p:normalViewPr>
  <p:slideViewPr>
    <p:cSldViewPr snapToGrid="0" snapToObjects="1">
      <p:cViewPr varScale="1">
        <p:scale>
          <a:sx n="126" d="100"/>
          <a:sy n="126" d="100"/>
        </p:scale>
        <p:origin x="1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A541B8-4142-401E-9214-29AEF0363B0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7823B94-097D-446C-AED6-0AE2B16285BD}">
      <dgm:prSet/>
      <dgm:spPr/>
      <dgm:t>
        <a:bodyPr/>
        <a:lstStyle/>
        <a:p>
          <a:r>
            <a:rPr lang="en-US" dirty="0"/>
            <a:t>It is important to track maternal care behaviors in mice models, especially in the context of early-life stress research conducted in neuroscience Labs. </a:t>
          </a:r>
        </a:p>
      </dgm:t>
    </dgm:pt>
    <dgm:pt modelId="{FB7A699E-F5FC-43EB-97D3-1D6B17FB89A1}" type="parTrans" cxnId="{4AF7ADF5-DB66-4BB1-BB77-6E7D10B069DF}">
      <dgm:prSet/>
      <dgm:spPr/>
      <dgm:t>
        <a:bodyPr/>
        <a:lstStyle/>
        <a:p>
          <a:endParaRPr lang="en-US"/>
        </a:p>
      </dgm:t>
    </dgm:pt>
    <dgm:pt modelId="{0111499C-C605-4DD5-B963-07905CA2446D}" type="sibTrans" cxnId="{4AF7ADF5-DB66-4BB1-BB77-6E7D10B069DF}">
      <dgm:prSet/>
      <dgm:spPr/>
      <dgm:t>
        <a:bodyPr/>
        <a:lstStyle/>
        <a:p>
          <a:endParaRPr lang="en-US"/>
        </a:p>
      </dgm:t>
    </dgm:pt>
    <dgm:pt modelId="{F22B1737-786B-48E0-AD5B-2C734A4AD793}">
      <dgm:prSet/>
      <dgm:spPr/>
      <dgm:t>
        <a:bodyPr/>
        <a:lstStyle/>
        <a:p>
          <a:r>
            <a:rPr lang="en-US" dirty="0"/>
            <a:t>Manually scoring maternal care behaviors using event logging software such as BORIS for behavior tagging takes a lot of human resources and time.</a:t>
          </a:r>
        </a:p>
      </dgm:t>
    </dgm:pt>
    <dgm:pt modelId="{A7809ECB-5173-4CD2-83E9-0D27FB7D3243}" type="parTrans" cxnId="{1F5394F8-FCFF-42A8-A56D-75CC3E94CE8B}">
      <dgm:prSet/>
      <dgm:spPr/>
      <dgm:t>
        <a:bodyPr/>
        <a:lstStyle/>
        <a:p>
          <a:endParaRPr lang="en-US"/>
        </a:p>
      </dgm:t>
    </dgm:pt>
    <dgm:pt modelId="{4BF74771-01F1-46A7-B4AF-6A21BA84367E}" type="sibTrans" cxnId="{1F5394F8-FCFF-42A8-A56D-75CC3E94CE8B}">
      <dgm:prSet/>
      <dgm:spPr/>
      <dgm:t>
        <a:bodyPr/>
        <a:lstStyle/>
        <a:p>
          <a:endParaRPr lang="en-US"/>
        </a:p>
      </dgm:t>
    </dgm:pt>
    <dgm:pt modelId="{7860EC12-A920-400B-B5E1-A64611F5B2F2}">
      <dgm:prSet/>
      <dgm:spPr/>
      <dgm:t>
        <a:bodyPr/>
        <a:lstStyle/>
        <a:p>
          <a:r>
            <a:rPr lang="en-US" dirty="0"/>
            <a:t>The laborious process of manual scoring requires significant human resources and training.</a:t>
          </a:r>
        </a:p>
      </dgm:t>
    </dgm:pt>
    <dgm:pt modelId="{3C5B6973-42FB-4867-B2D2-CB607B220CB7}" type="parTrans" cxnId="{3BE1323E-0CD1-4309-B90B-18BF390A0488}">
      <dgm:prSet/>
      <dgm:spPr/>
      <dgm:t>
        <a:bodyPr/>
        <a:lstStyle/>
        <a:p>
          <a:endParaRPr lang="en-US"/>
        </a:p>
      </dgm:t>
    </dgm:pt>
    <dgm:pt modelId="{1869E121-8A3E-4D0F-A793-EE27333B2D29}" type="sibTrans" cxnId="{3BE1323E-0CD1-4309-B90B-18BF390A0488}">
      <dgm:prSet/>
      <dgm:spPr/>
      <dgm:t>
        <a:bodyPr/>
        <a:lstStyle/>
        <a:p>
          <a:endParaRPr lang="en-US"/>
        </a:p>
      </dgm:t>
    </dgm:pt>
    <dgm:pt modelId="{A05E1D73-7A35-4A76-9DA2-1EB60255E60A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Objective of the project: </a:t>
          </a:r>
          <a:r>
            <a:rPr lang="en-US" dirty="0"/>
            <a:t>To develop an automated system or algorithm for streamlined tracking of maternal care behaviors in mice models.</a:t>
          </a:r>
        </a:p>
      </dgm:t>
    </dgm:pt>
    <dgm:pt modelId="{1A5CF8D3-92D0-422F-9C96-53787265826A}" type="parTrans" cxnId="{CE0E8963-E797-4ABC-BD6E-74CCD9C52EDC}">
      <dgm:prSet/>
      <dgm:spPr/>
      <dgm:t>
        <a:bodyPr/>
        <a:lstStyle/>
        <a:p>
          <a:endParaRPr lang="en-US"/>
        </a:p>
      </dgm:t>
    </dgm:pt>
    <dgm:pt modelId="{FF132FBD-6BDD-45E1-B01B-03DAE406D892}" type="sibTrans" cxnId="{CE0E8963-E797-4ABC-BD6E-74CCD9C52EDC}">
      <dgm:prSet/>
      <dgm:spPr/>
      <dgm:t>
        <a:bodyPr/>
        <a:lstStyle/>
        <a:p>
          <a:endParaRPr lang="en-US"/>
        </a:p>
      </dgm:t>
    </dgm:pt>
    <dgm:pt modelId="{2603F895-AFBB-0248-AADC-97BBFBDB37CF}" type="pres">
      <dgm:prSet presAssocID="{51A541B8-4142-401E-9214-29AEF0363B0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C61890-7D6C-DB43-9B58-EAC48A21D8DD}" type="pres">
      <dgm:prSet presAssocID="{87823B94-097D-446C-AED6-0AE2B16285BD}" presName="hierRoot1" presStyleCnt="0"/>
      <dgm:spPr/>
    </dgm:pt>
    <dgm:pt modelId="{D55B17AD-1C59-504F-8F94-3E0438709BA5}" type="pres">
      <dgm:prSet presAssocID="{87823B94-097D-446C-AED6-0AE2B16285BD}" presName="composite" presStyleCnt="0"/>
      <dgm:spPr/>
    </dgm:pt>
    <dgm:pt modelId="{F0170A60-33B7-F247-8789-CD89A92E136E}" type="pres">
      <dgm:prSet presAssocID="{87823B94-097D-446C-AED6-0AE2B16285BD}" presName="background" presStyleLbl="node0" presStyleIdx="0" presStyleCnt="4"/>
      <dgm:spPr/>
    </dgm:pt>
    <dgm:pt modelId="{2F39BB5B-D200-F946-97F5-99BEFAEFEA98}" type="pres">
      <dgm:prSet presAssocID="{87823B94-097D-446C-AED6-0AE2B16285BD}" presName="text" presStyleLbl="fgAcc0" presStyleIdx="0" presStyleCnt="4">
        <dgm:presLayoutVars>
          <dgm:chPref val="3"/>
        </dgm:presLayoutVars>
      </dgm:prSet>
      <dgm:spPr/>
    </dgm:pt>
    <dgm:pt modelId="{72467C20-DBB9-544A-9376-3BEC98DB20C2}" type="pres">
      <dgm:prSet presAssocID="{87823B94-097D-446C-AED6-0AE2B16285BD}" presName="hierChild2" presStyleCnt="0"/>
      <dgm:spPr/>
    </dgm:pt>
    <dgm:pt modelId="{3EBA95BF-2969-BF48-8D6C-814CA3BD3833}" type="pres">
      <dgm:prSet presAssocID="{F22B1737-786B-48E0-AD5B-2C734A4AD793}" presName="hierRoot1" presStyleCnt="0"/>
      <dgm:spPr/>
    </dgm:pt>
    <dgm:pt modelId="{7BC5E686-B044-A54C-BA00-84F50BB23DAF}" type="pres">
      <dgm:prSet presAssocID="{F22B1737-786B-48E0-AD5B-2C734A4AD793}" presName="composite" presStyleCnt="0"/>
      <dgm:spPr/>
    </dgm:pt>
    <dgm:pt modelId="{E74BF4A1-FB66-3F47-BE3C-F1616FD0CB3D}" type="pres">
      <dgm:prSet presAssocID="{F22B1737-786B-48E0-AD5B-2C734A4AD793}" presName="background" presStyleLbl="node0" presStyleIdx="1" presStyleCnt="4"/>
      <dgm:spPr/>
    </dgm:pt>
    <dgm:pt modelId="{053E0F82-4BAF-704B-AA9A-631BBD094D74}" type="pres">
      <dgm:prSet presAssocID="{F22B1737-786B-48E0-AD5B-2C734A4AD793}" presName="text" presStyleLbl="fgAcc0" presStyleIdx="1" presStyleCnt="4">
        <dgm:presLayoutVars>
          <dgm:chPref val="3"/>
        </dgm:presLayoutVars>
      </dgm:prSet>
      <dgm:spPr/>
    </dgm:pt>
    <dgm:pt modelId="{8020A3BB-F3F0-0C42-B198-B0B4EC3B3655}" type="pres">
      <dgm:prSet presAssocID="{F22B1737-786B-48E0-AD5B-2C734A4AD793}" presName="hierChild2" presStyleCnt="0"/>
      <dgm:spPr/>
    </dgm:pt>
    <dgm:pt modelId="{10046955-99F6-254C-9DFE-965F94E94D46}" type="pres">
      <dgm:prSet presAssocID="{7860EC12-A920-400B-B5E1-A64611F5B2F2}" presName="hierRoot1" presStyleCnt="0"/>
      <dgm:spPr/>
    </dgm:pt>
    <dgm:pt modelId="{85B1183A-2C03-7642-B646-35E5C3988093}" type="pres">
      <dgm:prSet presAssocID="{7860EC12-A920-400B-B5E1-A64611F5B2F2}" presName="composite" presStyleCnt="0"/>
      <dgm:spPr/>
    </dgm:pt>
    <dgm:pt modelId="{BE21E5CF-3EFF-D644-BEE3-5399AD20A6FD}" type="pres">
      <dgm:prSet presAssocID="{7860EC12-A920-400B-B5E1-A64611F5B2F2}" presName="background" presStyleLbl="node0" presStyleIdx="2" presStyleCnt="4"/>
      <dgm:spPr/>
    </dgm:pt>
    <dgm:pt modelId="{9E614792-25B3-8B4F-B2C9-E0D92291F650}" type="pres">
      <dgm:prSet presAssocID="{7860EC12-A920-400B-B5E1-A64611F5B2F2}" presName="text" presStyleLbl="fgAcc0" presStyleIdx="2" presStyleCnt="4">
        <dgm:presLayoutVars>
          <dgm:chPref val="3"/>
        </dgm:presLayoutVars>
      </dgm:prSet>
      <dgm:spPr/>
    </dgm:pt>
    <dgm:pt modelId="{C5B04584-471B-4849-B92A-850A9D19B31C}" type="pres">
      <dgm:prSet presAssocID="{7860EC12-A920-400B-B5E1-A64611F5B2F2}" presName="hierChild2" presStyleCnt="0"/>
      <dgm:spPr/>
    </dgm:pt>
    <dgm:pt modelId="{BDA4D94B-60D6-9543-9115-035942E291AE}" type="pres">
      <dgm:prSet presAssocID="{A05E1D73-7A35-4A76-9DA2-1EB60255E60A}" presName="hierRoot1" presStyleCnt="0"/>
      <dgm:spPr/>
    </dgm:pt>
    <dgm:pt modelId="{0D001FC0-C666-3646-B56B-780822AE269A}" type="pres">
      <dgm:prSet presAssocID="{A05E1D73-7A35-4A76-9DA2-1EB60255E60A}" presName="composite" presStyleCnt="0"/>
      <dgm:spPr/>
    </dgm:pt>
    <dgm:pt modelId="{87A94A60-C280-424A-BA2D-2AA4C084FEF9}" type="pres">
      <dgm:prSet presAssocID="{A05E1D73-7A35-4A76-9DA2-1EB60255E60A}" presName="background" presStyleLbl="node0" presStyleIdx="3" presStyleCnt="4"/>
      <dgm:spPr/>
    </dgm:pt>
    <dgm:pt modelId="{954D6FB8-7E81-934E-BAE5-C488F6D86FEA}" type="pres">
      <dgm:prSet presAssocID="{A05E1D73-7A35-4A76-9DA2-1EB60255E60A}" presName="text" presStyleLbl="fgAcc0" presStyleIdx="3" presStyleCnt="4">
        <dgm:presLayoutVars>
          <dgm:chPref val="3"/>
        </dgm:presLayoutVars>
      </dgm:prSet>
      <dgm:spPr/>
    </dgm:pt>
    <dgm:pt modelId="{B98768AF-93A3-374F-AF19-4C3A10346A7A}" type="pres">
      <dgm:prSet presAssocID="{A05E1D73-7A35-4A76-9DA2-1EB60255E60A}" presName="hierChild2" presStyleCnt="0"/>
      <dgm:spPr/>
    </dgm:pt>
  </dgm:ptLst>
  <dgm:cxnLst>
    <dgm:cxn modelId="{9475AA05-123C-CC49-B9D8-0705DB0C02A4}" type="presOf" srcId="{7860EC12-A920-400B-B5E1-A64611F5B2F2}" destId="{9E614792-25B3-8B4F-B2C9-E0D92291F650}" srcOrd="0" destOrd="0" presId="urn:microsoft.com/office/officeart/2005/8/layout/hierarchy1"/>
    <dgm:cxn modelId="{3BE1323E-0CD1-4309-B90B-18BF390A0488}" srcId="{51A541B8-4142-401E-9214-29AEF0363B02}" destId="{7860EC12-A920-400B-B5E1-A64611F5B2F2}" srcOrd="2" destOrd="0" parTransId="{3C5B6973-42FB-4867-B2D2-CB607B220CB7}" sibTransId="{1869E121-8A3E-4D0F-A793-EE27333B2D29}"/>
    <dgm:cxn modelId="{90101847-97ED-1747-A0B8-1836C1F80B98}" type="presOf" srcId="{87823B94-097D-446C-AED6-0AE2B16285BD}" destId="{2F39BB5B-D200-F946-97F5-99BEFAEFEA98}" srcOrd="0" destOrd="0" presId="urn:microsoft.com/office/officeart/2005/8/layout/hierarchy1"/>
    <dgm:cxn modelId="{FA8A9750-8764-BA40-8F71-B792DC2EE2D9}" type="presOf" srcId="{51A541B8-4142-401E-9214-29AEF0363B02}" destId="{2603F895-AFBB-0248-AADC-97BBFBDB37CF}" srcOrd="0" destOrd="0" presId="urn:microsoft.com/office/officeart/2005/8/layout/hierarchy1"/>
    <dgm:cxn modelId="{CE0E8963-E797-4ABC-BD6E-74CCD9C52EDC}" srcId="{51A541B8-4142-401E-9214-29AEF0363B02}" destId="{A05E1D73-7A35-4A76-9DA2-1EB60255E60A}" srcOrd="3" destOrd="0" parTransId="{1A5CF8D3-92D0-422F-9C96-53787265826A}" sibTransId="{FF132FBD-6BDD-45E1-B01B-03DAE406D892}"/>
    <dgm:cxn modelId="{65489F84-FF6F-DA43-9D99-1A6B317D4438}" type="presOf" srcId="{A05E1D73-7A35-4A76-9DA2-1EB60255E60A}" destId="{954D6FB8-7E81-934E-BAE5-C488F6D86FEA}" srcOrd="0" destOrd="0" presId="urn:microsoft.com/office/officeart/2005/8/layout/hierarchy1"/>
    <dgm:cxn modelId="{2CD9418D-A7B1-2849-94E7-9325A046D117}" type="presOf" srcId="{F22B1737-786B-48E0-AD5B-2C734A4AD793}" destId="{053E0F82-4BAF-704B-AA9A-631BBD094D74}" srcOrd="0" destOrd="0" presId="urn:microsoft.com/office/officeart/2005/8/layout/hierarchy1"/>
    <dgm:cxn modelId="{4AF7ADF5-DB66-4BB1-BB77-6E7D10B069DF}" srcId="{51A541B8-4142-401E-9214-29AEF0363B02}" destId="{87823B94-097D-446C-AED6-0AE2B16285BD}" srcOrd="0" destOrd="0" parTransId="{FB7A699E-F5FC-43EB-97D3-1D6B17FB89A1}" sibTransId="{0111499C-C605-4DD5-B963-07905CA2446D}"/>
    <dgm:cxn modelId="{1F5394F8-FCFF-42A8-A56D-75CC3E94CE8B}" srcId="{51A541B8-4142-401E-9214-29AEF0363B02}" destId="{F22B1737-786B-48E0-AD5B-2C734A4AD793}" srcOrd="1" destOrd="0" parTransId="{A7809ECB-5173-4CD2-83E9-0D27FB7D3243}" sibTransId="{4BF74771-01F1-46A7-B4AF-6A21BA84367E}"/>
    <dgm:cxn modelId="{339B4BF6-7849-5141-911E-B5BE3A70C01F}" type="presParOf" srcId="{2603F895-AFBB-0248-AADC-97BBFBDB37CF}" destId="{9BC61890-7D6C-DB43-9B58-EAC48A21D8DD}" srcOrd="0" destOrd="0" presId="urn:microsoft.com/office/officeart/2005/8/layout/hierarchy1"/>
    <dgm:cxn modelId="{F8917ACA-F32F-9941-AE6E-436434077623}" type="presParOf" srcId="{9BC61890-7D6C-DB43-9B58-EAC48A21D8DD}" destId="{D55B17AD-1C59-504F-8F94-3E0438709BA5}" srcOrd="0" destOrd="0" presId="urn:microsoft.com/office/officeart/2005/8/layout/hierarchy1"/>
    <dgm:cxn modelId="{E823A816-236F-0B41-9756-15B434665497}" type="presParOf" srcId="{D55B17AD-1C59-504F-8F94-3E0438709BA5}" destId="{F0170A60-33B7-F247-8789-CD89A92E136E}" srcOrd="0" destOrd="0" presId="urn:microsoft.com/office/officeart/2005/8/layout/hierarchy1"/>
    <dgm:cxn modelId="{AE5861E9-FAC6-3B4D-8312-FAD228A1C60F}" type="presParOf" srcId="{D55B17AD-1C59-504F-8F94-3E0438709BA5}" destId="{2F39BB5B-D200-F946-97F5-99BEFAEFEA98}" srcOrd="1" destOrd="0" presId="urn:microsoft.com/office/officeart/2005/8/layout/hierarchy1"/>
    <dgm:cxn modelId="{6FEEBE66-B192-8940-86FF-3430D4B846F7}" type="presParOf" srcId="{9BC61890-7D6C-DB43-9B58-EAC48A21D8DD}" destId="{72467C20-DBB9-544A-9376-3BEC98DB20C2}" srcOrd="1" destOrd="0" presId="urn:microsoft.com/office/officeart/2005/8/layout/hierarchy1"/>
    <dgm:cxn modelId="{8C334400-6EE0-C849-96B0-409ABFBCF43E}" type="presParOf" srcId="{2603F895-AFBB-0248-AADC-97BBFBDB37CF}" destId="{3EBA95BF-2969-BF48-8D6C-814CA3BD3833}" srcOrd="1" destOrd="0" presId="urn:microsoft.com/office/officeart/2005/8/layout/hierarchy1"/>
    <dgm:cxn modelId="{4A39F142-99F8-3D45-9B52-24FECA1CA6CD}" type="presParOf" srcId="{3EBA95BF-2969-BF48-8D6C-814CA3BD3833}" destId="{7BC5E686-B044-A54C-BA00-84F50BB23DAF}" srcOrd="0" destOrd="0" presId="urn:microsoft.com/office/officeart/2005/8/layout/hierarchy1"/>
    <dgm:cxn modelId="{5A552B61-2F3D-2947-BC87-3764C6A4EF0E}" type="presParOf" srcId="{7BC5E686-B044-A54C-BA00-84F50BB23DAF}" destId="{E74BF4A1-FB66-3F47-BE3C-F1616FD0CB3D}" srcOrd="0" destOrd="0" presId="urn:microsoft.com/office/officeart/2005/8/layout/hierarchy1"/>
    <dgm:cxn modelId="{CB32A09B-A541-2D4A-BFEF-EE73232A2C74}" type="presParOf" srcId="{7BC5E686-B044-A54C-BA00-84F50BB23DAF}" destId="{053E0F82-4BAF-704B-AA9A-631BBD094D74}" srcOrd="1" destOrd="0" presId="urn:microsoft.com/office/officeart/2005/8/layout/hierarchy1"/>
    <dgm:cxn modelId="{809879B5-3B39-D44E-96F4-8218AEF2747D}" type="presParOf" srcId="{3EBA95BF-2969-BF48-8D6C-814CA3BD3833}" destId="{8020A3BB-F3F0-0C42-B198-B0B4EC3B3655}" srcOrd="1" destOrd="0" presId="urn:microsoft.com/office/officeart/2005/8/layout/hierarchy1"/>
    <dgm:cxn modelId="{3F5F26C3-002B-9A4B-B3A8-6564F6E644B5}" type="presParOf" srcId="{2603F895-AFBB-0248-AADC-97BBFBDB37CF}" destId="{10046955-99F6-254C-9DFE-965F94E94D46}" srcOrd="2" destOrd="0" presId="urn:microsoft.com/office/officeart/2005/8/layout/hierarchy1"/>
    <dgm:cxn modelId="{AEABD5F0-3836-5340-92FB-82A87ECB2F83}" type="presParOf" srcId="{10046955-99F6-254C-9DFE-965F94E94D46}" destId="{85B1183A-2C03-7642-B646-35E5C3988093}" srcOrd="0" destOrd="0" presId="urn:microsoft.com/office/officeart/2005/8/layout/hierarchy1"/>
    <dgm:cxn modelId="{F4AB480C-D38A-6C4A-A89F-0B3EA3965DC7}" type="presParOf" srcId="{85B1183A-2C03-7642-B646-35E5C3988093}" destId="{BE21E5CF-3EFF-D644-BEE3-5399AD20A6FD}" srcOrd="0" destOrd="0" presId="urn:microsoft.com/office/officeart/2005/8/layout/hierarchy1"/>
    <dgm:cxn modelId="{06DE52ED-43DD-914D-9CB7-448AC23788A5}" type="presParOf" srcId="{85B1183A-2C03-7642-B646-35E5C3988093}" destId="{9E614792-25B3-8B4F-B2C9-E0D92291F650}" srcOrd="1" destOrd="0" presId="urn:microsoft.com/office/officeart/2005/8/layout/hierarchy1"/>
    <dgm:cxn modelId="{5740461E-8A53-2E4B-9094-58CC0ED8E8E3}" type="presParOf" srcId="{10046955-99F6-254C-9DFE-965F94E94D46}" destId="{C5B04584-471B-4849-B92A-850A9D19B31C}" srcOrd="1" destOrd="0" presId="urn:microsoft.com/office/officeart/2005/8/layout/hierarchy1"/>
    <dgm:cxn modelId="{37D47B1B-1B0D-584D-90B2-FA9E8F8A5BAB}" type="presParOf" srcId="{2603F895-AFBB-0248-AADC-97BBFBDB37CF}" destId="{BDA4D94B-60D6-9543-9115-035942E291AE}" srcOrd="3" destOrd="0" presId="urn:microsoft.com/office/officeart/2005/8/layout/hierarchy1"/>
    <dgm:cxn modelId="{BAB3FFC4-5430-CF48-AC07-A6BF126938E8}" type="presParOf" srcId="{BDA4D94B-60D6-9543-9115-035942E291AE}" destId="{0D001FC0-C666-3646-B56B-780822AE269A}" srcOrd="0" destOrd="0" presId="urn:microsoft.com/office/officeart/2005/8/layout/hierarchy1"/>
    <dgm:cxn modelId="{2E0BF4ED-DEC6-2F45-9621-5B3F186B86BB}" type="presParOf" srcId="{0D001FC0-C666-3646-B56B-780822AE269A}" destId="{87A94A60-C280-424A-BA2D-2AA4C084FEF9}" srcOrd="0" destOrd="0" presId="urn:microsoft.com/office/officeart/2005/8/layout/hierarchy1"/>
    <dgm:cxn modelId="{72757CB4-49CB-8C4A-8AC3-8622FDDE1120}" type="presParOf" srcId="{0D001FC0-C666-3646-B56B-780822AE269A}" destId="{954D6FB8-7E81-934E-BAE5-C488F6D86FEA}" srcOrd="1" destOrd="0" presId="urn:microsoft.com/office/officeart/2005/8/layout/hierarchy1"/>
    <dgm:cxn modelId="{01F5669E-45DD-104D-B52B-C19D5CE5AF9A}" type="presParOf" srcId="{BDA4D94B-60D6-9543-9115-035942E291AE}" destId="{B98768AF-93A3-374F-AF19-4C3A10346A7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61CB9C-C58B-4600-8333-55C8E0A1DAA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4A2F25-B1B4-469B-B73D-5C8AEB675FC5}">
      <dgm:prSet/>
      <dgm:spPr/>
      <dgm:t>
        <a:bodyPr/>
        <a:lstStyle/>
        <a:p>
          <a:r>
            <a:rPr lang="en-US" b="1"/>
            <a:t>Off-Nest</a:t>
          </a:r>
          <a:endParaRPr lang="en-US"/>
        </a:p>
      </dgm:t>
    </dgm:pt>
    <dgm:pt modelId="{54491437-6E0C-4038-A18F-A8CEFE2829E1}" type="parTrans" cxnId="{DF0D14A9-8B52-495A-864A-31D683648838}">
      <dgm:prSet/>
      <dgm:spPr/>
      <dgm:t>
        <a:bodyPr/>
        <a:lstStyle/>
        <a:p>
          <a:endParaRPr lang="en-US"/>
        </a:p>
      </dgm:t>
    </dgm:pt>
    <dgm:pt modelId="{C3C17F32-E893-4A19-97BD-CACE856F679C}" type="sibTrans" cxnId="{DF0D14A9-8B52-495A-864A-31D683648838}">
      <dgm:prSet/>
      <dgm:spPr/>
      <dgm:t>
        <a:bodyPr/>
        <a:lstStyle/>
        <a:p>
          <a:endParaRPr lang="en-US"/>
        </a:p>
      </dgm:t>
    </dgm:pt>
    <dgm:pt modelId="{F7977320-B7C9-497C-B10C-E8A37B5A2B7F}">
      <dgm:prSet/>
      <dgm:spPr/>
      <dgm:t>
        <a:bodyPr/>
        <a:lstStyle/>
        <a:p>
          <a:r>
            <a:rPr lang="en-US" i="1" dirty="0"/>
            <a:t>When the adult mouse is away from the nesting area and engages in activities like exploring the cage, foraging, and interacting with other mice.</a:t>
          </a:r>
          <a:endParaRPr lang="en-US" dirty="0"/>
        </a:p>
      </dgm:t>
    </dgm:pt>
    <dgm:pt modelId="{66BAE31C-9E2F-4240-BE22-6421C100445F}" type="parTrans" cxnId="{2F5B41B0-03C3-4CDC-8FE0-B217847910DC}">
      <dgm:prSet/>
      <dgm:spPr/>
      <dgm:t>
        <a:bodyPr/>
        <a:lstStyle/>
        <a:p>
          <a:endParaRPr lang="en-US"/>
        </a:p>
      </dgm:t>
    </dgm:pt>
    <dgm:pt modelId="{7CC0FB3A-EB0C-4687-9EA1-32CA11E02122}" type="sibTrans" cxnId="{2F5B41B0-03C3-4CDC-8FE0-B217847910DC}">
      <dgm:prSet/>
      <dgm:spPr/>
      <dgm:t>
        <a:bodyPr/>
        <a:lstStyle/>
        <a:p>
          <a:endParaRPr lang="en-US"/>
        </a:p>
      </dgm:t>
    </dgm:pt>
    <dgm:pt modelId="{2B78F341-CA3F-477E-B68A-1A268EE6DE88}">
      <dgm:prSet/>
      <dgm:spPr/>
      <dgm:t>
        <a:bodyPr/>
        <a:lstStyle/>
        <a:p>
          <a:r>
            <a:rPr lang="en-US" b="1" dirty="0"/>
            <a:t>Eating and Drinking</a:t>
          </a:r>
          <a:endParaRPr lang="en-US" dirty="0"/>
        </a:p>
      </dgm:t>
    </dgm:pt>
    <dgm:pt modelId="{F1DDFC1C-C57D-45A5-AC76-C4A03C8A2D49}" type="parTrans" cxnId="{8B843685-F49B-4069-BB21-9C8228129F7D}">
      <dgm:prSet/>
      <dgm:spPr/>
      <dgm:t>
        <a:bodyPr/>
        <a:lstStyle/>
        <a:p>
          <a:endParaRPr lang="en-US"/>
        </a:p>
      </dgm:t>
    </dgm:pt>
    <dgm:pt modelId="{2C06CBD6-6117-4404-9445-D1816249F55A}" type="sibTrans" cxnId="{8B843685-F49B-4069-BB21-9C8228129F7D}">
      <dgm:prSet/>
      <dgm:spPr/>
      <dgm:t>
        <a:bodyPr/>
        <a:lstStyle/>
        <a:p>
          <a:endParaRPr lang="en-US"/>
        </a:p>
      </dgm:t>
    </dgm:pt>
    <dgm:pt modelId="{4D8B4E98-B3AB-4F13-A873-963239750779}">
      <dgm:prSet/>
      <dgm:spPr/>
      <dgm:t>
        <a:bodyPr/>
        <a:lstStyle/>
        <a:p>
          <a:r>
            <a:rPr lang="en-US" i="1" dirty="0"/>
            <a:t>The mouse consumes food and water from designated areas in the cage, including food pellets, seeds, and water bottles or dispensers.</a:t>
          </a:r>
          <a:endParaRPr lang="en-US" dirty="0"/>
        </a:p>
      </dgm:t>
    </dgm:pt>
    <dgm:pt modelId="{7520C8F5-B5CD-4BD3-912D-0B5C7DCFF44A}" type="parTrans" cxnId="{35E5D0F6-441C-4ACE-8A05-7E4419E43E03}">
      <dgm:prSet/>
      <dgm:spPr/>
      <dgm:t>
        <a:bodyPr/>
        <a:lstStyle/>
        <a:p>
          <a:endParaRPr lang="en-US"/>
        </a:p>
      </dgm:t>
    </dgm:pt>
    <dgm:pt modelId="{3EBCAA11-2DD8-45ED-AF87-7F8BC4ABCB5F}" type="sibTrans" cxnId="{35E5D0F6-441C-4ACE-8A05-7E4419E43E03}">
      <dgm:prSet/>
      <dgm:spPr/>
      <dgm:t>
        <a:bodyPr/>
        <a:lstStyle/>
        <a:p>
          <a:endParaRPr lang="en-US"/>
        </a:p>
      </dgm:t>
    </dgm:pt>
    <dgm:pt modelId="{4F8B5B3A-4CB4-4D99-B16F-F9B52EDF7B66}">
      <dgm:prSet/>
      <dgm:spPr/>
      <dgm:t>
        <a:bodyPr/>
        <a:lstStyle/>
        <a:p>
          <a:r>
            <a:rPr lang="en-US" dirty="0"/>
            <a:t>Nest Building</a:t>
          </a:r>
        </a:p>
      </dgm:t>
    </dgm:pt>
    <dgm:pt modelId="{A92BB083-4A1B-4197-9490-3DD362727D94}" type="sibTrans" cxnId="{F3DD268A-8D05-4758-B4E3-6322595123DE}">
      <dgm:prSet/>
      <dgm:spPr/>
      <dgm:t>
        <a:bodyPr/>
        <a:lstStyle/>
        <a:p>
          <a:endParaRPr lang="en-US"/>
        </a:p>
      </dgm:t>
    </dgm:pt>
    <dgm:pt modelId="{48D89D63-976F-49B6-9F1C-1AE8C9C137C5}" type="parTrans" cxnId="{F3DD268A-8D05-4758-B4E3-6322595123DE}">
      <dgm:prSet/>
      <dgm:spPr/>
      <dgm:t>
        <a:bodyPr/>
        <a:lstStyle/>
        <a:p>
          <a:endParaRPr lang="en-US"/>
        </a:p>
      </dgm:t>
    </dgm:pt>
    <dgm:pt modelId="{D2C59C00-402B-4025-AA62-CA85CB98237F}">
      <dgm:prSet/>
      <dgm:spPr/>
      <dgm:t>
        <a:bodyPr/>
        <a:lstStyle/>
        <a:p>
          <a:r>
            <a:rPr lang="en-US" i="1" dirty="0"/>
            <a:t>Mice construct nests using bedding materials like paper or cloth to create a comfortable and secure shelter for themselves and their offspring.</a:t>
          </a:r>
          <a:endParaRPr lang="en-US" dirty="0"/>
        </a:p>
      </dgm:t>
    </dgm:pt>
    <dgm:pt modelId="{E1783941-6AA5-4187-B7B4-EC6EF0943881}" type="sibTrans" cxnId="{E15C7ADB-12C0-4A57-A134-81F1900E41FA}">
      <dgm:prSet/>
      <dgm:spPr/>
      <dgm:t>
        <a:bodyPr/>
        <a:lstStyle/>
        <a:p>
          <a:endParaRPr lang="en-US"/>
        </a:p>
      </dgm:t>
    </dgm:pt>
    <dgm:pt modelId="{EB592FA5-9A56-4B38-BBD4-576F72611D6F}" type="parTrans" cxnId="{E15C7ADB-12C0-4A57-A134-81F1900E41FA}">
      <dgm:prSet/>
      <dgm:spPr/>
      <dgm:t>
        <a:bodyPr/>
        <a:lstStyle/>
        <a:p>
          <a:endParaRPr lang="en-US"/>
        </a:p>
      </dgm:t>
    </dgm:pt>
    <dgm:pt modelId="{3006346D-5EFB-CF4F-B073-0A963E0CECC3}" type="pres">
      <dgm:prSet presAssocID="{5F61CB9C-C58B-4600-8333-55C8E0A1DAA8}" presName="linear" presStyleCnt="0">
        <dgm:presLayoutVars>
          <dgm:dir/>
          <dgm:animLvl val="lvl"/>
          <dgm:resizeHandles val="exact"/>
        </dgm:presLayoutVars>
      </dgm:prSet>
      <dgm:spPr/>
    </dgm:pt>
    <dgm:pt modelId="{BB08FE8E-1B29-3D42-A889-50031702DC02}" type="pres">
      <dgm:prSet presAssocID="{434A2F25-B1B4-469B-B73D-5C8AEB675FC5}" presName="parentLin" presStyleCnt="0"/>
      <dgm:spPr/>
    </dgm:pt>
    <dgm:pt modelId="{B4322DAD-DAFC-544A-9FC2-F3373FBE09F4}" type="pres">
      <dgm:prSet presAssocID="{434A2F25-B1B4-469B-B73D-5C8AEB675FC5}" presName="parentLeftMargin" presStyleLbl="node1" presStyleIdx="0" presStyleCnt="3"/>
      <dgm:spPr/>
    </dgm:pt>
    <dgm:pt modelId="{44ADB8D9-8427-7C4D-8ED4-AC395F6C7ACE}" type="pres">
      <dgm:prSet presAssocID="{434A2F25-B1B4-469B-B73D-5C8AEB675F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92573C8-394D-674E-A5A3-9FAA1553765A}" type="pres">
      <dgm:prSet presAssocID="{434A2F25-B1B4-469B-B73D-5C8AEB675FC5}" presName="negativeSpace" presStyleCnt="0"/>
      <dgm:spPr/>
    </dgm:pt>
    <dgm:pt modelId="{D7A377FA-F239-5B42-8507-AA3E40CD1C2A}" type="pres">
      <dgm:prSet presAssocID="{434A2F25-B1B4-469B-B73D-5C8AEB675FC5}" presName="childText" presStyleLbl="conFgAcc1" presStyleIdx="0" presStyleCnt="3">
        <dgm:presLayoutVars>
          <dgm:bulletEnabled val="1"/>
        </dgm:presLayoutVars>
      </dgm:prSet>
      <dgm:spPr/>
    </dgm:pt>
    <dgm:pt modelId="{611C245A-C3C1-EA49-8E99-5616797E0D62}" type="pres">
      <dgm:prSet presAssocID="{C3C17F32-E893-4A19-97BD-CACE856F679C}" presName="spaceBetweenRectangles" presStyleCnt="0"/>
      <dgm:spPr/>
    </dgm:pt>
    <dgm:pt modelId="{B6D01691-0BB5-6D41-853A-80F3E5455EDA}" type="pres">
      <dgm:prSet presAssocID="{2B78F341-CA3F-477E-B68A-1A268EE6DE88}" presName="parentLin" presStyleCnt="0"/>
      <dgm:spPr/>
    </dgm:pt>
    <dgm:pt modelId="{54A124AA-CE42-7347-BB7D-5FDFF9232C89}" type="pres">
      <dgm:prSet presAssocID="{2B78F341-CA3F-477E-B68A-1A268EE6DE88}" presName="parentLeftMargin" presStyleLbl="node1" presStyleIdx="0" presStyleCnt="3"/>
      <dgm:spPr/>
    </dgm:pt>
    <dgm:pt modelId="{6819433B-5DC4-AE46-9E78-F90ABBAE67E6}" type="pres">
      <dgm:prSet presAssocID="{2B78F341-CA3F-477E-B68A-1A268EE6DE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295C00D-FB77-9847-9A9E-0948434F8006}" type="pres">
      <dgm:prSet presAssocID="{2B78F341-CA3F-477E-B68A-1A268EE6DE88}" presName="negativeSpace" presStyleCnt="0"/>
      <dgm:spPr/>
    </dgm:pt>
    <dgm:pt modelId="{A5CC3134-A673-7A43-B182-69A6CDA3ADC7}" type="pres">
      <dgm:prSet presAssocID="{2B78F341-CA3F-477E-B68A-1A268EE6DE88}" presName="childText" presStyleLbl="conFgAcc1" presStyleIdx="1" presStyleCnt="3">
        <dgm:presLayoutVars>
          <dgm:bulletEnabled val="1"/>
        </dgm:presLayoutVars>
      </dgm:prSet>
      <dgm:spPr/>
    </dgm:pt>
    <dgm:pt modelId="{FDBB916A-A24B-8E47-B860-019C55F03918}" type="pres">
      <dgm:prSet presAssocID="{2C06CBD6-6117-4404-9445-D1816249F55A}" presName="spaceBetweenRectangles" presStyleCnt="0"/>
      <dgm:spPr/>
    </dgm:pt>
    <dgm:pt modelId="{CBE90B50-EEB0-A54C-9BE8-F06CA758EF16}" type="pres">
      <dgm:prSet presAssocID="{4F8B5B3A-4CB4-4D99-B16F-F9B52EDF7B66}" presName="parentLin" presStyleCnt="0"/>
      <dgm:spPr/>
    </dgm:pt>
    <dgm:pt modelId="{FE96F49E-3F71-6043-81C4-4B5DDF084992}" type="pres">
      <dgm:prSet presAssocID="{4F8B5B3A-4CB4-4D99-B16F-F9B52EDF7B66}" presName="parentLeftMargin" presStyleLbl="node1" presStyleIdx="1" presStyleCnt="3"/>
      <dgm:spPr/>
    </dgm:pt>
    <dgm:pt modelId="{AC4AF64E-83B6-0E46-8EA3-9FB0251F1CC9}" type="pres">
      <dgm:prSet presAssocID="{4F8B5B3A-4CB4-4D99-B16F-F9B52EDF7B6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1E4B42A-2333-0749-BF7D-4DEBCCC85577}" type="pres">
      <dgm:prSet presAssocID="{4F8B5B3A-4CB4-4D99-B16F-F9B52EDF7B66}" presName="negativeSpace" presStyleCnt="0"/>
      <dgm:spPr/>
    </dgm:pt>
    <dgm:pt modelId="{D8F191B6-2609-4145-A367-28D43823C237}" type="pres">
      <dgm:prSet presAssocID="{4F8B5B3A-4CB4-4D99-B16F-F9B52EDF7B6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08E3300-06B7-984D-887E-E67D60EC3014}" type="presOf" srcId="{5F61CB9C-C58B-4600-8333-55C8E0A1DAA8}" destId="{3006346D-5EFB-CF4F-B073-0A963E0CECC3}" srcOrd="0" destOrd="0" presId="urn:microsoft.com/office/officeart/2005/8/layout/list1"/>
    <dgm:cxn modelId="{85CB4D07-C2C6-2547-B6F3-701E59F3E1ED}" type="presOf" srcId="{F7977320-B7C9-497C-B10C-E8A37B5A2B7F}" destId="{D7A377FA-F239-5B42-8507-AA3E40CD1C2A}" srcOrd="0" destOrd="0" presId="urn:microsoft.com/office/officeart/2005/8/layout/list1"/>
    <dgm:cxn modelId="{F6814409-B16D-3D4B-9826-E47D5738FE49}" type="presOf" srcId="{4F8B5B3A-4CB4-4D99-B16F-F9B52EDF7B66}" destId="{AC4AF64E-83B6-0E46-8EA3-9FB0251F1CC9}" srcOrd="1" destOrd="0" presId="urn:microsoft.com/office/officeart/2005/8/layout/list1"/>
    <dgm:cxn modelId="{4F36C54F-245E-B14F-8626-36D804804446}" type="presOf" srcId="{4F8B5B3A-4CB4-4D99-B16F-F9B52EDF7B66}" destId="{FE96F49E-3F71-6043-81C4-4B5DDF084992}" srcOrd="0" destOrd="0" presId="urn:microsoft.com/office/officeart/2005/8/layout/list1"/>
    <dgm:cxn modelId="{34380F63-4A8D-734F-B048-84973C580354}" type="presOf" srcId="{2B78F341-CA3F-477E-B68A-1A268EE6DE88}" destId="{6819433B-5DC4-AE46-9E78-F90ABBAE67E6}" srcOrd="1" destOrd="0" presId="urn:microsoft.com/office/officeart/2005/8/layout/list1"/>
    <dgm:cxn modelId="{5CC9A668-FA8A-BD4D-90B5-F058C500122F}" type="presOf" srcId="{D2C59C00-402B-4025-AA62-CA85CB98237F}" destId="{D8F191B6-2609-4145-A367-28D43823C237}" srcOrd="0" destOrd="0" presId="urn:microsoft.com/office/officeart/2005/8/layout/list1"/>
    <dgm:cxn modelId="{96BD727E-091E-FC49-8256-B21F6E6C74B8}" type="presOf" srcId="{4D8B4E98-B3AB-4F13-A873-963239750779}" destId="{A5CC3134-A673-7A43-B182-69A6CDA3ADC7}" srcOrd="0" destOrd="0" presId="urn:microsoft.com/office/officeart/2005/8/layout/list1"/>
    <dgm:cxn modelId="{8B843685-F49B-4069-BB21-9C8228129F7D}" srcId="{5F61CB9C-C58B-4600-8333-55C8E0A1DAA8}" destId="{2B78F341-CA3F-477E-B68A-1A268EE6DE88}" srcOrd="1" destOrd="0" parTransId="{F1DDFC1C-C57D-45A5-AC76-C4A03C8A2D49}" sibTransId="{2C06CBD6-6117-4404-9445-D1816249F55A}"/>
    <dgm:cxn modelId="{F3DD268A-8D05-4758-B4E3-6322595123DE}" srcId="{5F61CB9C-C58B-4600-8333-55C8E0A1DAA8}" destId="{4F8B5B3A-4CB4-4D99-B16F-F9B52EDF7B66}" srcOrd="2" destOrd="0" parTransId="{48D89D63-976F-49B6-9F1C-1AE8C9C137C5}" sibTransId="{A92BB083-4A1B-4197-9490-3DD362727D94}"/>
    <dgm:cxn modelId="{DF0D14A9-8B52-495A-864A-31D683648838}" srcId="{5F61CB9C-C58B-4600-8333-55C8E0A1DAA8}" destId="{434A2F25-B1B4-469B-B73D-5C8AEB675FC5}" srcOrd="0" destOrd="0" parTransId="{54491437-6E0C-4038-A18F-A8CEFE2829E1}" sibTransId="{C3C17F32-E893-4A19-97BD-CACE856F679C}"/>
    <dgm:cxn modelId="{5AEF68AE-5DDC-8448-958A-FF5C4AD9B7DD}" type="presOf" srcId="{434A2F25-B1B4-469B-B73D-5C8AEB675FC5}" destId="{44ADB8D9-8427-7C4D-8ED4-AC395F6C7ACE}" srcOrd="1" destOrd="0" presId="urn:microsoft.com/office/officeart/2005/8/layout/list1"/>
    <dgm:cxn modelId="{2F5B41B0-03C3-4CDC-8FE0-B217847910DC}" srcId="{434A2F25-B1B4-469B-B73D-5C8AEB675FC5}" destId="{F7977320-B7C9-497C-B10C-E8A37B5A2B7F}" srcOrd="0" destOrd="0" parTransId="{66BAE31C-9E2F-4240-BE22-6421C100445F}" sibTransId="{7CC0FB3A-EB0C-4687-9EA1-32CA11E02122}"/>
    <dgm:cxn modelId="{4500E1C5-E760-E244-8564-BCADD5DCA79C}" type="presOf" srcId="{434A2F25-B1B4-469B-B73D-5C8AEB675FC5}" destId="{B4322DAD-DAFC-544A-9FC2-F3373FBE09F4}" srcOrd="0" destOrd="0" presId="urn:microsoft.com/office/officeart/2005/8/layout/list1"/>
    <dgm:cxn modelId="{7876C6CA-416F-D447-984C-1C6BC5D977C1}" type="presOf" srcId="{2B78F341-CA3F-477E-B68A-1A268EE6DE88}" destId="{54A124AA-CE42-7347-BB7D-5FDFF9232C89}" srcOrd="0" destOrd="0" presId="urn:microsoft.com/office/officeart/2005/8/layout/list1"/>
    <dgm:cxn modelId="{E15C7ADB-12C0-4A57-A134-81F1900E41FA}" srcId="{4F8B5B3A-4CB4-4D99-B16F-F9B52EDF7B66}" destId="{D2C59C00-402B-4025-AA62-CA85CB98237F}" srcOrd="0" destOrd="0" parTransId="{EB592FA5-9A56-4B38-BBD4-576F72611D6F}" sibTransId="{E1783941-6AA5-4187-B7B4-EC6EF0943881}"/>
    <dgm:cxn modelId="{35E5D0F6-441C-4ACE-8A05-7E4419E43E03}" srcId="{2B78F341-CA3F-477E-B68A-1A268EE6DE88}" destId="{4D8B4E98-B3AB-4F13-A873-963239750779}" srcOrd="0" destOrd="0" parTransId="{7520C8F5-B5CD-4BD3-912D-0B5C7DCFF44A}" sibTransId="{3EBCAA11-2DD8-45ED-AF87-7F8BC4ABCB5F}"/>
    <dgm:cxn modelId="{86533157-70AD-1645-98BC-E16204C3D479}" type="presParOf" srcId="{3006346D-5EFB-CF4F-B073-0A963E0CECC3}" destId="{BB08FE8E-1B29-3D42-A889-50031702DC02}" srcOrd="0" destOrd="0" presId="urn:microsoft.com/office/officeart/2005/8/layout/list1"/>
    <dgm:cxn modelId="{3773B7F5-794B-6644-9042-8114AA09220D}" type="presParOf" srcId="{BB08FE8E-1B29-3D42-A889-50031702DC02}" destId="{B4322DAD-DAFC-544A-9FC2-F3373FBE09F4}" srcOrd="0" destOrd="0" presId="urn:microsoft.com/office/officeart/2005/8/layout/list1"/>
    <dgm:cxn modelId="{039E42A1-2DCB-CF47-8D3C-8EBE9F7BFCAC}" type="presParOf" srcId="{BB08FE8E-1B29-3D42-A889-50031702DC02}" destId="{44ADB8D9-8427-7C4D-8ED4-AC395F6C7ACE}" srcOrd="1" destOrd="0" presId="urn:microsoft.com/office/officeart/2005/8/layout/list1"/>
    <dgm:cxn modelId="{4FEB67D3-44A3-9E46-9862-6820B8A10996}" type="presParOf" srcId="{3006346D-5EFB-CF4F-B073-0A963E0CECC3}" destId="{292573C8-394D-674E-A5A3-9FAA1553765A}" srcOrd="1" destOrd="0" presId="urn:microsoft.com/office/officeart/2005/8/layout/list1"/>
    <dgm:cxn modelId="{CD130655-6932-2C40-913A-A1EF6F5DD1EC}" type="presParOf" srcId="{3006346D-5EFB-CF4F-B073-0A963E0CECC3}" destId="{D7A377FA-F239-5B42-8507-AA3E40CD1C2A}" srcOrd="2" destOrd="0" presId="urn:microsoft.com/office/officeart/2005/8/layout/list1"/>
    <dgm:cxn modelId="{BE3D1408-FA91-464C-9FDC-5CB8110FBE7A}" type="presParOf" srcId="{3006346D-5EFB-CF4F-B073-0A963E0CECC3}" destId="{611C245A-C3C1-EA49-8E99-5616797E0D62}" srcOrd="3" destOrd="0" presId="urn:microsoft.com/office/officeart/2005/8/layout/list1"/>
    <dgm:cxn modelId="{02616109-0879-F340-A7D0-DD6DDCD89AF6}" type="presParOf" srcId="{3006346D-5EFB-CF4F-B073-0A963E0CECC3}" destId="{B6D01691-0BB5-6D41-853A-80F3E5455EDA}" srcOrd="4" destOrd="0" presId="urn:microsoft.com/office/officeart/2005/8/layout/list1"/>
    <dgm:cxn modelId="{9066D852-3B5A-FD46-88AA-AEE0ED7ECFAE}" type="presParOf" srcId="{B6D01691-0BB5-6D41-853A-80F3E5455EDA}" destId="{54A124AA-CE42-7347-BB7D-5FDFF9232C89}" srcOrd="0" destOrd="0" presId="urn:microsoft.com/office/officeart/2005/8/layout/list1"/>
    <dgm:cxn modelId="{E7B9EE16-CF36-434E-82EB-C042C747CABB}" type="presParOf" srcId="{B6D01691-0BB5-6D41-853A-80F3E5455EDA}" destId="{6819433B-5DC4-AE46-9E78-F90ABBAE67E6}" srcOrd="1" destOrd="0" presId="urn:microsoft.com/office/officeart/2005/8/layout/list1"/>
    <dgm:cxn modelId="{CBB806EC-678C-1C48-B7B7-9A7641694C86}" type="presParOf" srcId="{3006346D-5EFB-CF4F-B073-0A963E0CECC3}" destId="{F295C00D-FB77-9847-9A9E-0948434F8006}" srcOrd="5" destOrd="0" presId="urn:microsoft.com/office/officeart/2005/8/layout/list1"/>
    <dgm:cxn modelId="{A5AC18A6-717D-1F4C-9ABA-4800898BD638}" type="presParOf" srcId="{3006346D-5EFB-CF4F-B073-0A963E0CECC3}" destId="{A5CC3134-A673-7A43-B182-69A6CDA3ADC7}" srcOrd="6" destOrd="0" presId="urn:microsoft.com/office/officeart/2005/8/layout/list1"/>
    <dgm:cxn modelId="{D6A7807C-3ECD-1B4D-BD10-2A2254207EC9}" type="presParOf" srcId="{3006346D-5EFB-CF4F-B073-0A963E0CECC3}" destId="{FDBB916A-A24B-8E47-B860-019C55F03918}" srcOrd="7" destOrd="0" presId="urn:microsoft.com/office/officeart/2005/8/layout/list1"/>
    <dgm:cxn modelId="{9FB90415-C2BD-8F4C-85AE-7FB3F2E1DE2F}" type="presParOf" srcId="{3006346D-5EFB-CF4F-B073-0A963E0CECC3}" destId="{CBE90B50-EEB0-A54C-9BE8-F06CA758EF16}" srcOrd="8" destOrd="0" presId="urn:microsoft.com/office/officeart/2005/8/layout/list1"/>
    <dgm:cxn modelId="{DE812142-4313-4D44-93B6-F1A98A9B478B}" type="presParOf" srcId="{CBE90B50-EEB0-A54C-9BE8-F06CA758EF16}" destId="{FE96F49E-3F71-6043-81C4-4B5DDF084992}" srcOrd="0" destOrd="0" presId="urn:microsoft.com/office/officeart/2005/8/layout/list1"/>
    <dgm:cxn modelId="{8FABBC60-5A8F-154E-B841-E281A452C15C}" type="presParOf" srcId="{CBE90B50-EEB0-A54C-9BE8-F06CA758EF16}" destId="{AC4AF64E-83B6-0E46-8EA3-9FB0251F1CC9}" srcOrd="1" destOrd="0" presId="urn:microsoft.com/office/officeart/2005/8/layout/list1"/>
    <dgm:cxn modelId="{BDF8D72A-454B-0845-8D86-21650EB3AFEF}" type="presParOf" srcId="{3006346D-5EFB-CF4F-B073-0A963E0CECC3}" destId="{61E4B42A-2333-0749-BF7D-4DEBCCC85577}" srcOrd="9" destOrd="0" presId="urn:microsoft.com/office/officeart/2005/8/layout/list1"/>
    <dgm:cxn modelId="{127A8AC9-86D8-C344-95DC-FB7C96FB23F7}" type="presParOf" srcId="{3006346D-5EFB-CF4F-B073-0A963E0CECC3}" destId="{D8F191B6-2609-4145-A367-28D43823C23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61CB9C-C58B-4600-8333-55C8E0A1DAA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4A2F25-B1B4-469B-B73D-5C8AEB675FC5}">
      <dgm:prSet/>
      <dgm:spPr/>
      <dgm:t>
        <a:bodyPr/>
        <a:lstStyle/>
        <a:p>
          <a:r>
            <a:rPr lang="en-US" dirty="0"/>
            <a:t>Nursing Pups</a:t>
          </a:r>
        </a:p>
      </dgm:t>
    </dgm:pt>
    <dgm:pt modelId="{54491437-6E0C-4038-A18F-A8CEFE2829E1}" type="parTrans" cxnId="{DF0D14A9-8B52-495A-864A-31D683648838}">
      <dgm:prSet/>
      <dgm:spPr/>
      <dgm:t>
        <a:bodyPr/>
        <a:lstStyle/>
        <a:p>
          <a:endParaRPr lang="en-US"/>
        </a:p>
      </dgm:t>
    </dgm:pt>
    <dgm:pt modelId="{C3C17F32-E893-4A19-97BD-CACE856F679C}" type="sibTrans" cxnId="{DF0D14A9-8B52-495A-864A-31D683648838}">
      <dgm:prSet/>
      <dgm:spPr/>
      <dgm:t>
        <a:bodyPr/>
        <a:lstStyle/>
        <a:p>
          <a:endParaRPr lang="en-US"/>
        </a:p>
      </dgm:t>
    </dgm:pt>
    <dgm:pt modelId="{F7977320-B7C9-497C-B10C-E8A37B5A2B7F}">
      <dgm:prSet/>
      <dgm:spPr/>
      <dgm:t>
        <a:bodyPr/>
        <a:lstStyle/>
        <a:p>
          <a:r>
            <a:rPr lang="en-US" i="1" dirty="0"/>
            <a:t>The mother mouse provides milk and nourishment to her pups through nursing, vital for their growth and development.</a:t>
          </a:r>
          <a:endParaRPr lang="en-US" dirty="0"/>
        </a:p>
      </dgm:t>
    </dgm:pt>
    <dgm:pt modelId="{66BAE31C-9E2F-4240-BE22-6421C100445F}" type="parTrans" cxnId="{2F5B41B0-03C3-4CDC-8FE0-B217847910DC}">
      <dgm:prSet/>
      <dgm:spPr/>
      <dgm:t>
        <a:bodyPr/>
        <a:lstStyle/>
        <a:p>
          <a:endParaRPr lang="en-US"/>
        </a:p>
      </dgm:t>
    </dgm:pt>
    <dgm:pt modelId="{7CC0FB3A-EB0C-4687-9EA1-32CA11E02122}" type="sibTrans" cxnId="{2F5B41B0-03C3-4CDC-8FE0-B217847910DC}">
      <dgm:prSet/>
      <dgm:spPr/>
      <dgm:t>
        <a:bodyPr/>
        <a:lstStyle/>
        <a:p>
          <a:endParaRPr lang="en-US"/>
        </a:p>
      </dgm:t>
    </dgm:pt>
    <dgm:pt modelId="{2B78F341-CA3F-477E-B68A-1A268EE6DE88}">
      <dgm:prSet/>
      <dgm:spPr/>
      <dgm:t>
        <a:bodyPr/>
        <a:lstStyle/>
        <a:p>
          <a:r>
            <a:rPr lang="en-US" b="1" dirty="0"/>
            <a:t>Licking and Grooming</a:t>
          </a:r>
          <a:endParaRPr lang="en-US" dirty="0"/>
        </a:p>
      </dgm:t>
    </dgm:pt>
    <dgm:pt modelId="{F1DDFC1C-C57D-45A5-AC76-C4A03C8A2D49}" type="parTrans" cxnId="{8B843685-F49B-4069-BB21-9C8228129F7D}">
      <dgm:prSet/>
      <dgm:spPr/>
      <dgm:t>
        <a:bodyPr/>
        <a:lstStyle/>
        <a:p>
          <a:endParaRPr lang="en-US"/>
        </a:p>
      </dgm:t>
    </dgm:pt>
    <dgm:pt modelId="{2C06CBD6-6117-4404-9445-D1816249F55A}" type="sibTrans" cxnId="{8B843685-F49B-4069-BB21-9C8228129F7D}">
      <dgm:prSet/>
      <dgm:spPr/>
      <dgm:t>
        <a:bodyPr/>
        <a:lstStyle/>
        <a:p>
          <a:endParaRPr lang="en-US"/>
        </a:p>
      </dgm:t>
    </dgm:pt>
    <dgm:pt modelId="{4D8B4E98-B3AB-4F13-A873-963239750779}">
      <dgm:prSet/>
      <dgm:spPr/>
      <dgm:t>
        <a:bodyPr/>
        <a:lstStyle/>
        <a:p>
          <a:r>
            <a:rPr lang="en-US" i="1" dirty="0"/>
            <a:t>Adult mice groom or lick other mice, often their pups, to maintain social bonds, hygiene, and comfort. It also aids in circulation and debris removal.</a:t>
          </a:r>
          <a:endParaRPr lang="en-US" dirty="0"/>
        </a:p>
      </dgm:t>
    </dgm:pt>
    <dgm:pt modelId="{7520C8F5-B5CD-4BD3-912D-0B5C7DCFF44A}" type="parTrans" cxnId="{35E5D0F6-441C-4ACE-8A05-7E4419E43E03}">
      <dgm:prSet/>
      <dgm:spPr/>
      <dgm:t>
        <a:bodyPr/>
        <a:lstStyle/>
        <a:p>
          <a:endParaRPr lang="en-US"/>
        </a:p>
      </dgm:t>
    </dgm:pt>
    <dgm:pt modelId="{3EBCAA11-2DD8-45ED-AF87-7F8BC4ABCB5F}" type="sibTrans" cxnId="{35E5D0F6-441C-4ACE-8A05-7E4419E43E03}">
      <dgm:prSet/>
      <dgm:spPr/>
      <dgm:t>
        <a:bodyPr/>
        <a:lstStyle/>
        <a:p>
          <a:endParaRPr lang="en-US"/>
        </a:p>
      </dgm:t>
    </dgm:pt>
    <dgm:pt modelId="{4F8B5B3A-4CB4-4D99-B16F-F9B52EDF7B66}">
      <dgm:prSet/>
      <dgm:spPr/>
      <dgm:t>
        <a:bodyPr/>
        <a:lstStyle/>
        <a:p>
          <a:r>
            <a:rPr lang="en-US" dirty="0"/>
            <a:t>Carrying Pups</a:t>
          </a:r>
        </a:p>
      </dgm:t>
    </dgm:pt>
    <dgm:pt modelId="{A92BB083-4A1B-4197-9490-3DD362727D94}" type="sibTrans" cxnId="{F3DD268A-8D05-4758-B4E3-6322595123DE}">
      <dgm:prSet/>
      <dgm:spPr/>
      <dgm:t>
        <a:bodyPr/>
        <a:lstStyle/>
        <a:p>
          <a:endParaRPr lang="en-US"/>
        </a:p>
      </dgm:t>
    </dgm:pt>
    <dgm:pt modelId="{48D89D63-976F-49B6-9F1C-1AE8C9C137C5}" type="parTrans" cxnId="{F3DD268A-8D05-4758-B4E3-6322595123DE}">
      <dgm:prSet/>
      <dgm:spPr/>
      <dgm:t>
        <a:bodyPr/>
        <a:lstStyle/>
        <a:p>
          <a:endParaRPr lang="en-US"/>
        </a:p>
      </dgm:t>
    </dgm:pt>
    <dgm:pt modelId="{D2C59C00-402B-4025-AA62-CA85CB98237F}">
      <dgm:prSet/>
      <dgm:spPr/>
      <dgm:t>
        <a:bodyPr/>
        <a:lstStyle/>
        <a:p>
          <a:r>
            <a:rPr lang="en-US" i="1" dirty="0"/>
            <a:t>The adult mouse carries its pups in its mouth or nest, ensuring their safety and regulating their temperature, an essential maternal care behavior.</a:t>
          </a:r>
          <a:endParaRPr lang="en-US" dirty="0"/>
        </a:p>
      </dgm:t>
    </dgm:pt>
    <dgm:pt modelId="{E1783941-6AA5-4187-B7B4-EC6EF0943881}" type="sibTrans" cxnId="{E15C7ADB-12C0-4A57-A134-81F1900E41FA}">
      <dgm:prSet/>
      <dgm:spPr/>
      <dgm:t>
        <a:bodyPr/>
        <a:lstStyle/>
        <a:p>
          <a:endParaRPr lang="en-US"/>
        </a:p>
      </dgm:t>
    </dgm:pt>
    <dgm:pt modelId="{EB592FA5-9A56-4B38-BBD4-576F72611D6F}" type="parTrans" cxnId="{E15C7ADB-12C0-4A57-A134-81F1900E41FA}">
      <dgm:prSet/>
      <dgm:spPr/>
      <dgm:t>
        <a:bodyPr/>
        <a:lstStyle/>
        <a:p>
          <a:endParaRPr lang="en-US"/>
        </a:p>
      </dgm:t>
    </dgm:pt>
    <dgm:pt modelId="{3006346D-5EFB-CF4F-B073-0A963E0CECC3}" type="pres">
      <dgm:prSet presAssocID="{5F61CB9C-C58B-4600-8333-55C8E0A1DAA8}" presName="linear" presStyleCnt="0">
        <dgm:presLayoutVars>
          <dgm:dir/>
          <dgm:animLvl val="lvl"/>
          <dgm:resizeHandles val="exact"/>
        </dgm:presLayoutVars>
      </dgm:prSet>
      <dgm:spPr/>
    </dgm:pt>
    <dgm:pt modelId="{BB08FE8E-1B29-3D42-A889-50031702DC02}" type="pres">
      <dgm:prSet presAssocID="{434A2F25-B1B4-469B-B73D-5C8AEB675FC5}" presName="parentLin" presStyleCnt="0"/>
      <dgm:spPr/>
    </dgm:pt>
    <dgm:pt modelId="{B4322DAD-DAFC-544A-9FC2-F3373FBE09F4}" type="pres">
      <dgm:prSet presAssocID="{434A2F25-B1B4-469B-B73D-5C8AEB675FC5}" presName="parentLeftMargin" presStyleLbl="node1" presStyleIdx="0" presStyleCnt="3"/>
      <dgm:spPr/>
    </dgm:pt>
    <dgm:pt modelId="{44ADB8D9-8427-7C4D-8ED4-AC395F6C7ACE}" type="pres">
      <dgm:prSet presAssocID="{434A2F25-B1B4-469B-B73D-5C8AEB675FC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92573C8-394D-674E-A5A3-9FAA1553765A}" type="pres">
      <dgm:prSet presAssocID="{434A2F25-B1B4-469B-B73D-5C8AEB675FC5}" presName="negativeSpace" presStyleCnt="0"/>
      <dgm:spPr/>
    </dgm:pt>
    <dgm:pt modelId="{D7A377FA-F239-5B42-8507-AA3E40CD1C2A}" type="pres">
      <dgm:prSet presAssocID="{434A2F25-B1B4-469B-B73D-5C8AEB675FC5}" presName="childText" presStyleLbl="conFgAcc1" presStyleIdx="0" presStyleCnt="3">
        <dgm:presLayoutVars>
          <dgm:bulletEnabled val="1"/>
        </dgm:presLayoutVars>
      </dgm:prSet>
      <dgm:spPr/>
    </dgm:pt>
    <dgm:pt modelId="{611C245A-C3C1-EA49-8E99-5616797E0D62}" type="pres">
      <dgm:prSet presAssocID="{C3C17F32-E893-4A19-97BD-CACE856F679C}" presName="spaceBetweenRectangles" presStyleCnt="0"/>
      <dgm:spPr/>
    </dgm:pt>
    <dgm:pt modelId="{B6D01691-0BB5-6D41-853A-80F3E5455EDA}" type="pres">
      <dgm:prSet presAssocID="{2B78F341-CA3F-477E-B68A-1A268EE6DE88}" presName="parentLin" presStyleCnt="0"/>
      <dgm:spPr/>
    </dgm:pt>
    <dgm:pt modelId="{54A124AA-CE42-7347-BB7D-5FDFF9232C89}" type="pres">
      <dgm:prSet presAssocID="{2B78F341-CA3F-477E-B68A-1A268EE6DE88}" presName="parentLeftMargin" presStyleLbl="node1" presStyleIdx="0" presStyleCnt="3"/>
      <dgm:spPr/>
    </dgm:pt>
    <dgm:pt modelId="{6819433B-5DC4-AE46-9E78-F90ABBAE67E6}" type="pres">
      <dgm:prSet presAssocID="{2B78F341-CA3F-477E-B68A-1A268EE6DE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295C00D-FB77-9847-9A9E-0948434F8006}" type="pres">
      <dgm:prSet presAssocID="{2B78F341-CA3F-477E-B68A-1A268EE6DE88}" presName="negativeSpace" presStyleCnt="0"/>
      <dgm:spPr/>
    </dgm:pt>
    <dgm:pt modelId="{A5CC3134-A673-7A43-B182-69A6CDA3ADC7}" type="pres">
      <dgm:prSet presAssocID="{2B78F341-CA3F-477E-B68A-1A268EE6DE88}" presName="childText" presStyleLbl="conFgAcc1" presStyleIdx="1" presStyleCnt="3">
        <dgm:presLayoutVars>
          <dgm:bulletEnabled val="1"/>
        </dgm:presLayoutVars>
      </dgm:prSet>
      <dgm:spPr/>
    </dgm:pt>
    <dgm:pt modelId="{FDBB916A-A24B-8E47-B860-019C55F03918}" type="pres">
      <dgm:prSet presAssocID="{2C06CBD6-6117-4404-9445-D1816249F55A}" presName="spaceBetweenRectangles" presStyleCnt="0"/>
      <dgm:spPr/>
    </dgm:pt>
    <dgm:pt modelId="{CBE90B50-EEB0-A54C-9BE8-F06CA758EF16}" type="pres">
      <dgm:prSet presAssocID="{4F8B5B3A-4CB4-4D99-B16F-F9B52EDF7B66}" presName="parentLin" presStyleCnt="0"/>
      <dgm:spPr/>
    </dgm:pt>
    <dgm:pt modelId="{FE96F49E-3F71-6043-81C4-4B5DDF084992}" type="pres">
      <dgm:prSet presAssocID="{4F8B5B3A-4CB4-4D99-B16F-F9B52EDF7B66}" presName="parentLeftMargin" presStyleLbl="node1" presStyleIdx="1" presStyleCnt="3"/>
      <dgm:spPr/>
    </dgm:pt>
    <dgm:pt modelId="{AC4AF64E-83B6-0E46-8EA3-9FB0251F1CC9}" type="pres">
      <dgm:prSet presAssocID="{4F8B5B3A-4CB4-4D99-B16F-F9B52EDF7B66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1E4B42A-2333-0749-BF7D-4DEBCCC85577}" type="pres">
      <dgm:prSet presAssocID="{4F8B5B3A-4CB4-4D99-B16F-F9B52EDF7B66}" presName="negativeSpace" presStyleCnt="0"/>
      <dgm:spPr/>
    </dgm:pt>
    <dgm:pt modelId="{D8F191B6-2609-4145-A367-28D43823C237}" type="pres">
      <dgm:prSet presAssocID="{4F8B5B3A-4CB4-4D99-B16F-F9B52EDF7B6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08E3300-06B7-984D-887E-E67D60EC3014}" type="presOf" srcId="{5F61CB9C-C58B-4600-8333-55C8E0A1DAA8}" destId="{3006346D-5EFB-CF4F-B073-0A963E0CECC3}" srcOrd="0" destOrd="0" presId="urn:microsoft.com/office/officeart/2005/8/layout/list1"/>
    <dgm:cxn modelId="{85CB4D07-C2C6-2547-B6F3-701E59F3E1ED}" type="presOf" srcId="{F7977320-B7C9-497C-B10C-E8A37B5A2B7F}" destId="{D7A377FA-F239-5B42-8507-AA3E40CD1C2A}" srcOrd="0" destOrd="0" presId="urn:microsoft.com/office/officeart/2005/8/layout/list1"/>
    <dgm:cxn modelId="{F6814409-B16D-3D4B-9826-E47D5738FE49}" type="presOf" srcId="{4F8B5B3A-4CB4-4D99-B16F-F9B52EDF7B66}" destId="{AC4AF64E-83B6-0E46-8EA3-9FB0251F1CC9}" srcOrd="1" destOrd="0" presId="urn:microsoft.com/office/officeart/2005/8/layout/list1"/>
    <dgm:cxn modelId="{4F36C54F-245E-B14F-8626-36D804804446}" type="presOf" srcId="{4F8B5B3A-4CB4-4D99-B16F-F9B52EDF7B66}" destId="{FE96F49E-3F71-6043-81C4-4B5DDF084992}" srcOrd="0" destOrd="0" presId="urn:microsoft.com/office/officeart/2005/8/layout/list1"/>
    <dgm:cxn modelId="{34380F63-4A8D-734F-B048-84973C580354}" type="presOf" srcId="{2B78F341-CA3F-477E-B68A-1A268EE6DE88}" destId="{6819433B-5DC4-AE46-9E78-F90ABBAE67E6}" srcOrd="1" destOrd="0" presId="urn:microsoft.com/office/officeart/2005/8/layout/list1"/>
    <dgm:cxn modelId="{5CC9A668-FA8A-BD4D-90B5-F058C500122F}" type="presOf" srcId="{D2C59C00-402B-4025-AA62-CA85CB98237F}" destId="{D8F191B6-2609-4145-A367-28D43823C237}" srcOrd="0" destOrd="0" presId="urn:microsoft.com/office/officeart/2005/8/layout/list1"/>
    <dgm:cxn modelId="{96BD727E-091E-FC49-8256-B21F6E6C74B8}" type="presOf" srcId="{4D8B4E98-B3AB-4F13-A873-963239750779}" destId="{A5CC3134-A673-7A43-B182-69A6CDA3ADC7}" srcOrd="0" destOrd="0" presId="urn:microsoft.com/office/officeart/2005/8/layout/list1"/>
    <dgm:cxn modelId="{8B843685-F49B-4069-BB21-9C8228129F7D}" srcId="{5F61CB9C-C58B-4600-8333-55C8E0A1DAA8}" destId="{2B78F341-CA3F-477E-B68A-1A268EE6DE88}" srcOrd="1" destOrd="0" parTransId="{F1DDFC1C-C57D-45A5-AC76-C4A03C8A2D49}" sibTransId="{2C06CBD6-6117-4404-9445-D1816249F55A}"/>
    <dgm:cxn modelId="{F3DD268A-8D05-4758-B4E3-6322595123DE}" srcId="{5F61CB9C-C58B-4600-8333-55C8E0A1DAA8}" destId="{4F8B5B3A-4CB4-4D99-B16F-F9B52EDF7B66}" srcOrd="2" destOrd="0" parTransId="{48D89D63-976F-49B6-9F1C-1AE8C9C137C5}" sibTransId="{A92BB083-4A1B-4197-9490-3DD362727D94}"/>
    <dgm:cxn modelId="{DF0D14A9-8B52-495A-864A-31D683648838}" srcId="{5F61CB9C-C58B-4600-8333-55C8E0A1DAA8}" destId="{434A2F25-B1B4-469B-B73D-5C8AEB675FC5}" srcOrd="0" destOrd="0" parTransId="{54491437-6E0C-4038-A18F-A8CEFE2829E1}" sibTransId="{C3C17F32-E893-4A19-97BD-CACE856F679C}"/>
    <dgm:cxn modelId="{5AEF68AE-5DDC-8448-958A-FF5C4AD9B7DD}" type="presOf" srcId="{434A2F25-B1B4-469B-B73D-5C8AEB675FC5}" destId="{44ADB8D9-8427-7C4D-8ED4-AC395F6C7ACE}" srcOrd="1" destOrd="0" presId="urn:microsoft.com/office/officeart/2005/8/layout/list1"/>
    <dgm:cxn modelId="{2F5B41B0-03C3-4CDC-8FE0-B217847910DC}" srcId="{434A2F25-B1B4-469B-B73D-5C8AEB675FC5}" destId="{F7977320-B7C9-497C-B10C-E8A37B5A2B7F}" srcOrd="0" destOrd="0" parTransId="{66BAE31C-9E2F-4240-BE22-6421C100445F}" sibTransId="{7CC0FB3A-EB0C-4687-9EA1-32CA11E02122}"/>
    <dgm:cxn modelId="{4500E1C5-E760-E244-8564-BCADD5DCA79C}" type="presOf" srcId="{434A2F25-B1B4-469B-B73D-5C8AEB675FC5}" destId="{B4322DAD-DAFC-544A-9FC2-F3373FBE09F4}" srcOrd="0" destOrd="0" presId="urn:microsoft.com/office/officeart/2005/8/layout/list1"/>
    <dgm:cxn modelId="{7876C6CA-416F-D447-984C-1C6BC5D977C1}" type="presOf" srcId="{2B78F341-CA3F-477E-B68A-1A268EE6DE88}" destId="{54A124AA-CE42-7347-BB7D-5FDFF9232C89}" srcOrd="0" destOrd="0" presId="urn:microsoft.com/office/officeart/2005/8/layout/list1"/>
    <dgm:cxn modelId="{E15C7ADB-12C0-4A57-A134-81F1900E41FA}" srcId="{4F8B5B3A-4CB4-4D99-B16F-F9B52EDF7B66}" destId="{D2C59C00-402B-4025-AA62-CA85CB98237F}" srcOrd="0" destOrd="0" parTransId="{EB592FA5-9A56-4B38-BBD4-576F72611D6F}" sibTransId="{E1783941-6AA5-4187-B7B4-EC6EF0943881}"/>
    <dgm:cxn modelId="{35E5D0F6-441C-4ACE-8A05-7E4419E43E03}" srcId="{2B78F341-CA3F-477E-B68A-1A268EE6DE88}" destId="{4D8B4E98-B3AB-4F13-A873-963239750779}" srcOrd="0" destOrd="0" parTransId="{7520C8F5-B5CD-4BD3-912D-0B5C7DCFF44A}" sibTransId="{3EBCAA11-2DD8-45ED-AF87-7F8BC4ABCB5F}"/>
    <dgm:cxn modelId="{86533157-70AD-1645-98BC-E16204C3D479}" type="presParOf" srcId="{3006346D-5EFB-CF4F-B073-0A963E0CECC3}" destId="{BB08FE8E-1B29-3D42-A889-50031702DC02}" srcOrd="0" destOrd="0" presId="urn:microsoft.com/office/officeart/2005/8/layout/list1"/>
    <dgm:cxn modelId="{3773B7F5-794B-6644-9042-8114AA09220D}" type="presParOf" srcId="{BB08FE8E-1B29-3D42-A889-50031702DC02}" destId="{B4322DAD-DAFC-544A-9FC2-F3373FBE09F4}" srcOrd="0" destOrd="0" presId="urn:microsoft.com/office/officeart/2005/8/layout/list1"/>
    <dgm:cxn modelId="{039E42A1-2DCB-CF47-8D3C-8EBE9F7BFCAC}" type="presParOf" srcId="{BB08FE8E-1B29-3D42-A889-50031702DC02}" destId="{44ADB8D9-8427-7C4D-8ED4-AC395F6C7ACE}" srcOrd="1" destOrd="0" presId="urn:microsoft.com/office/officeart/2005/8/layout/list1"/>
    <dgm:cxn modelId="{4FEB67D3-44A3-9E46-9862-6820B8A10996}" type="presParOf" srcId="{3006346D-5EFB-CF4F-B073-0A963E0CECC3}" destId="{292573C8-394D-674E-A5A3-9FAA1553765A}" srcOrd="1" destOrd="0" presId="urn:microsoft.com/office/officeart/2005/8/layout/list1"/>
    <dgm:cxn modelId="{CD130655-6932-2C40-913A-A1EF6F5DD1EC}" type="presParOf" srcId="{3006346D-5EFB-CF4F-B073-0A963E0CECC3}" destId="{D7A377FA-F239-5B42-8507-AA3E40CD1C2A}" srcOrd="2" destOrd="0" presId="urn:microsoft.com/office/officeart/2005/8/layout/list1"/>
    <dgm:cxn modelId="{BE3D1408-FA91-464C-9FDC-5CB8110FBE7A}" type="presParOf" srcId="{3006346D-5EFB-CF4F-B073-0A963E0CECC3}" destId="{611C245A-C3C1-EA49-8E99-5616797E0D62}" srcOrd="3" destOrd="0" presId="urn:microsoft.com/office/officeart/2005/8/layout/list1"/>
    <dgm:cxn modelId="{02616109-0879-F340-A7D0-DD6DDCD89AF6}" type="presParOf" srcId="{3006346D-5EFB-CF4F-B073-0A963E0CECC3}" destId="{B6D01691-0BB5-6D41-853A-80F3E5455EDA}" srcOrd="4" destOrd="0" presId="urn:microsoft.com/office/officeart/2005/8/layout/list1"/>
    <dgm:cxn modelId="{9066D852-3B5A-FD46-88AA-AEE0ED7ECFAE}" type="presParOf" srcId="{B6D01691-0BB5-6D41-853A-80F3E5455EDA}" destId="{54A124AA-CE42-7347-BB7D-5FDFF9232C89}" srcOrd="0" destOrd="0" presId="urn:microsoft.com/office/officeart/2005/8/layout/list1"/>
    <dgm:cxn modelId="{E7B9EE16-CF36-434E-82EB-C042C747CABB}" type="presParOf" srcId="{B6D01691-0BB5-6D41-853A-80F3E5455EDA}" destId="{6819433B-5DC4-AE46-9E78-F90ABBAE67E6}" srcOrd="1" destOrd="0" presId="urn:microsoft.com/office/officeart/2005/8/layout/list1"/>
    <dgm:cxn modelId="{CBB806EC-678C-1C48-B7B7-9A7641694C86}" type="presParOf" srcId="{3006346D-5EFB-CF4F-B073-0A963E0CECC3}" destId="{F295C00D-FB77-9847-9A9E-0948434F8006}" srcOrd="5" destOrd="0" presId="urn:microsoft.com/office/officeart/2005/8/layout/list1"/>
    <dgm:cxn modelId="{A5AC18A6-717D-1F4C-9ABA-4800898BD638}" type="presParOf" srcId="{3006346D-5EFB-CF4F-B073-0A963E0CECC3}" destId="{A5CC3134-A673-7A43-B182-69A6CDA3ADC7}" srcOrd="6" destOrd="0" presId="urn:microsoft.com/office/officeart/2005/8/layout/list1"/>
    <dgm:cxn modelId="{D6A7807C-3ECD-1B4D-BD10-2A2254207EC9}" type="presParOf" srcId="{3006346D-5EFB-CF4F-B073-0A963E0CECC3}" destId="{FDBB916A-A24B-8E47-B860-019C55F03918}" srcOrd="7" destOrd="0" presId="urn:microsoft.com/office/officeart/2005/8/layout/list1"/>
    <dgm:cxn modelId="{9FB90415-C2BD-8F4C-85AE-7FB3F2E1DE2F}" type="presParOf" srcId="{3006346D-5EFB-CF4F-B073-0A963E0CECC3}" destId="{CBE90B50-EEB0-A54C-9BE8-F06CA758EF16}" srcOrd="8" destOrd="0" presId="urn:microsoft.com/office/officeart/2005/8/layout/list1"/>
    <dgm:cxn modelId="{DE812142-4313-4D44-93B6-F1A98A9B478B}" type="presParOf" srcId="{CBE90B50-EEB0-A54C-9BE8-F06CA758EF16}" destId="{FE96F49E-3F71-6043-81C4-4B5DDF084992}" srcOrd="0" destOrd="0" presId="urn:microsoft.com/office/officeart/2005/8/layout/list1"/>
    <dgm:cxn modelId="{8FABBC60-5A8F-154E-B841-E281A452C15C}" type="presParOf" srcId="{CBE90B50-EEB0-A54C-9BE8-F06CA758EF16}" destId="{AC4AF64E-83B6-0E46-8EA3-9FB0251F1CC9}" srcOrd="1" destOrd="0" presId="urn:microsoft.com/office/officeart/2005/8/layout/list1"/>
    <dgm:cxn modelId="{BDF8D72A-454B-0845-8D86-21650EB3AFEF}" type="presParOf" srcId="{3006346D-5EFB-CF4F-B073-0A963E0CECC3}" destId="{61E4B42A-2333-0749-BF7D-4DEBCCC85577}" srcOrd="9" destOrd="0" presId="urn:microsoft.com/office/officeart/2005/8/layout/list1"/>
    <dgm:cxn modelId="{127A8AC9-86D8-C344-95DC-FB7C96FB23F7}" type="presParOf" srcId="{3006346D-5EFB-CF4F-B073-0A963E0CECC3}" destId="{D8F191B6-2609-4145-A367-28D43823C23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70A60-33B7-F247-8789-CD89A92E136E}">
      <dsp:nvSpPr>
        <dsp:cNvPr id="0" name=""/>
        <dsp:cNvSpPr/>
      </dsp:nvSpPr>
      <dsp:spPr>
        <a:xfrm>
          <a:off x="2395" y="1221459"/>
          <a:ext cx="1710550" cy="1086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9BB5B-D200-F946-97F5-99BEFAEFEA98}">
      <dsp:nvSpPr>
        <dsp:cNvPr id="0" name=""/>
        <dsp:cNvSpPr/>
      </dsp:nvSpPr>
      <dsp:spPr>
        <a:xfrm>
          <a:off x="192456" y="1402017"/>
          <a:ext cx="1710550" cy="10861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It is important to track maternal care behaviors in mice models, especially in the context of early-life stress research conducted in neuroscience Labs. </a:t>
          </a:r>
        </a:p>
      </dsp:txBody>
      <dsp:txXfrm>
        <a:off x="224270" y="1433831"/>
        <a:ext cx="1646922" cy="1022571"/>
      </dsp:txXfrm>
    </dsp:sp>
    <dsp:sp modelId="{E74BF4A1-FB66-3F47-BE3C-F1616FD0CB3D}">
      <dsp:nvSpPr>
        <dsp:cNvPr id="0" name=""/>
        <dsp:cNvSpPr/>
      </dsp:nvSpPr>
      <dsp:spPr>
        <a:xfrm>
          <a:off x="2093068" y="1221459"/>
          <a:ext cx="1710550" cy="1086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E0F82-4BAF-704B-AA9A-631BBD094D74}">
      <dsp:nvSpPr>
        <dsp:cNvPr id="0" name=""/>
        <dsp:cNvSpPr/>
      </dsp:nvSpPr>
      <dsp:spPr>
        <a:xfrm>
          <a:off x="2283129" y="1402017"/>
          <a:ext cx="1710550" cy="10861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Manually scoring maternal care behaviors using event logging software such as BORIS for behavior tagging takes a lot of human resources and time.</a:t>
          </a:r>
        </a:p>
      </dsp:txBody>
      <dsp:txXfrm>
        <a:off x="2314943" y="1433831"/>
        <a:ext cx="1646922" cy="1022571"/>
      </dsp:txXfrm>
    </dsp:sp>
    <dsp:sp modelId="{BE21E5CF-3EFF-D644-BEE3-5399AD20A6FD}">
      <dsp:nvSpPr>
        <dsp:cNvPr id="0" name=""/>
        <dsp:cNvSpPr/>
      </dsp:nvSpPr>
      <dsp:spPr>
        <a:xfrm>
          <a:off x="4183740" y="1221459"/>
          <a:ext cx="1710550" cy="1086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14792-25B3-8B4F-B2C9-E0D92291F650}">
      <dsp:nvSpPr>
        <dsp:cNvPr id="0" name=""/>
        <dsp:cNvSpPr/>
      </dsp:nvSpPr>
      <dsp:spPr>
        <a:xfrm>
          <a:off x="4373801" y="1402017"/>
          <a:ext cx="1710550" cy="10861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 laborious process of manual scoring requires significant human resources and training.</a:t>
          </a:r>
        </a:p>
      </dsp:txBody>
      <dsp:txXfrm>
        <a:off x="4405615" y="1433831"/>
        <a:ext cx="1646922" cy="1022571"/>
      </dsp:txXfrm>
    </dsp:sp>
    <dsp:sp modelId="{87A94A60-C280-424A-BA2D-2AA4C084FEF9}">
      <dsp:nvSpPr>
        <dsp:cNvPr id="0" name=""/>
        <dsp:cNvSpPr/>
      </dsp:nvSpPr>
      <dsp:spPr>
        <a:xfrm>
          <a:off x="6274412" y="1221459"/>
          <a:ext cx="1710550" cy="10861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4D6FB8-7E81-934E-BAE5-C488F6D86FEA}">
      <dsp:nvSpPr>
        <dsp:cNvPr id="0" name=""/>
        <dsp:cNvSpPr/>
      </dsp:nvSpPr>
      <dsp:spPr>
        <a:xfrm>
          <a:off x="6464474" y="1402017"/>
          <a:ext cx="1710550" cy="108619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srgbClr val="FF0000"/>
              </a:solidFill>
            </a:rPr>
            <a:t>Objective of the project: </a:t>
          </a:r>
          <a:r>
            <a:rPr lang="en-US" sz="1100" kern="1200" dirty="0"/>
            <a:t>To develop an automated system or algorithm for streamlined tracking of maternal care behaviors in mice models.</a:t>
          </a:r>
        </a:p>
      </dsp:txBody>
      <dsp:txXfrm>
        <a:off x="6496288" y="1433831"/>
        <a:ext cx="1646922" cy="10225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377FA-F239-5B42-8507-AA3E40CD1C2A}">
      <dsp:nvSpPr>
        <dsp:cNvPr id="0" name=""/>
        <dsp:cNvSpPr/>
      </dsp:nvSpPr>
      <dsp:spPr>
        <a:xfrm>
          <a:off x="0" y="248240"/>
          <a:ext cx="811149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9542" tIns="312420" rIns="62954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When the adult mouse is away from the nesting area and engages in activities like exploring the cage, foraging, and interacting with other mice.</a:t>
          </a:r>
          <a:endParaRPr lang="en-US" sz="1500" kern="1200" dirty="0"/>
        </a:p>
      </dsp:txBody>
      <dsp:txXfrm>
        <a:off x="0" y="248240"/>
        <a:ext cx="8111490" cy="850500"/>
      </dsp:txXfrm>
    </dsp:sp>
    <dsp:sp modelId="{44ADB8D9-8427-7C4D-8ED4-AC395F6C7ACE}">
      <dsp:nvSpPr>
        <dsp:cNvPr id="0" name=""/>
        <dsp:cNvSpPr/>
      </dsp:nvSpPr>
      <dsp:spPr>
        <a:xfrm>
          <a:off x="405574" y="26840"/>
          <a:ext cx="567804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617" tIns="0" rIns="2146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Off-Nest</a:t>
          </a:r>
          <a:endParaRPr lang="en-US" sz="1500" kern="1200"/>
        </a:p>
      </dsp:txBody>
      <dsp:txXfrm>
        <a:off x="427190" y="48456"/>
        <a:ext cx="5634810" cy="399568"/>
      </dsp:txXfrm>
    </dsp:sp>
    <dsp:sp modelId="{A5CC3134-A673-7A43-B182-69A6CDA3ADC7}">
      <dsp:nvSpPr>
        <dsp:cNvPr id="0" name=""/>
        <dsp:cNvSpPr/>
      </dsp:nvSpPr>
      <dsp:spPr>
        <a:xfrm>
          <a:off x="0" y="1401140"/>
          <a:ext cx="811149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9542" tIns="312420" rIns="62954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The mouse consumes food and water from designated areas in the cage, including food pellets, seeds, and water bottles or dispensers.</a:t>
          </a:r>
          <a:endParaRPr lang="en-US" sz="1500" kern="1200" dirty="0"/>
        </a:p>
      </dsp:txBody>
      <dsp:txXfrm>
        <a:off x="0" y="1401140"/>
        <a:ext cx="8111490" cy="850500"/>
      </dsp:txXfrm>
    </dsp:sp>
    <dsp:sp modelId="{6819433B-5DC4-AE46-9E78-F90ABBAE67E6}">
      <dsp:nvSpPr>
        <dsp:cNvPr id="0" name=""/>
        <dsp:cNvSpPr/>
      </dsp:nvSpPr>
      <dsp:spPr>
        <a:xfrm>
          <a:off x="405574" y="1179740"/>
          <a:ext cx="567804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617" tIns="0" rIns="2146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Eating and Drinking</a:t>
          </a:r>
          <a:endParaRPr lang="en-US" sz="1500" kern="1200" dirty="0"/>
        </a:p>
      </dsp:txBody>
      <dsp:txXfrm>
        <a:off x="427190" y="1201356"/>
        <a:ext cx="5634810" cy="399568"/>
      </dsp:txXfrm>
    </dsp:sp>
    <dsp:sp modelId="{D8F191B6-2609-4145-A367-28D43823C237}">
      <dsp:nvSpPr>
        <dsp:cNvPr id="0" name=""/>
        <dsp:cNvSpPr/>
      </dsp:nvSpPr>
      <dsp:spPr>
        <a:xfrm>
          <a:off x="0" y="2554040"/>
          <a:ext cx="811149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9542" tIns="312420" rIns="62954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Mice construct nests using bedding materials like paper or cloth to create a comfortable and secure shelter for themselves and their offspring.</a:t>
          </a:r>
          <a:endParaRPr lang="en-US" sz="1500" kern="1200" dirty="0"/>
        </a:p>
      </dsp:txBody>
      <dsp:txXfrm>
        <a:off x="0" y="2554040"/>
        <a:ext cx="8111490" cy="850500"/>
      </dsp:txXfrm>
    </dsp:sp>
    <dsp:sp modelId="{AC4AF64E-83B6-0E46-8EA3-9FB0251F1CC9}">
      <dsp:nvSpPr>
        <dsp:cNvPr id="0" name=""/>
        <dsp:cNvSpPr/>
      </dsp:nvSpPr>
      <dsp:spPr>
        <a:xfrm>
          <a:off x="405574" y="2332640"/>
          <a:ext cx="567804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617" tIns="0" rIns="2146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Nest Building</a:t>
          </a:r>
        </a:p>
      </dsp:txBody>
      <dsp:txXfrm>
        <a:off x="427190" y="2354256"/>
        <a:ext cx="5634810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377FA-F239-5B42-8507-AA3E40CD1C2A}">
      <dsp:nvSpPr>
        <dsp:cNvPr id="0" name=""/>
        <dsp:cNvSpPr/>
      </dsp:nvSpPr>
      <dsp:spPr>
        <a:xfrm>
          <a:off x="0" y="248240"/>
          <a:ext cx="811149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9542" tIns="312420" rIns="62954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The mother mouse provides milk and nourishment to her pups through nursing, vital for their growth and development.</a:t>
          </a:r>
          <a:endParaRPr lang="en-US" sz="1500" kern="1200" dirty="0"/>
        </a:p>
      </dsp:txBody>
      <dsp:txXfrm>
        <a:off x="0" y="248240"/>
        <a:ext cx="8111490" cy="850500"/>
      </dsp:txXfrm>
    </dsp:sp>
    <dsp:sp modelId="{44ADB8D9-8427-7C4D-8ED4-AC395F6C7ACE}">
      <dsp:nvSpPr>
        <dsp:cNvPr id="0" name=""/>
        <dsp:cNvSpPr/>
      </dsp:nvSpPr>
      <dsp:spPr>
        <a:xfrm>
          <a:off x="405574" y="26840"/>
          <a:ext cx="567804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617" tIns="0" rIns="2146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Nursing Pups</a:t>
          </a:r>
        </a:p>
      </dsp:txBody>
      <dsp:txXfrm>
        <a:off x="427190" y="48456"/>
        <a:ext cx="5634810" cy="399568"/>
      </dsp:txXfrm>
    </dsp:sp>
    <dsp:sp modelId="{A5CC3134-A673-7A43-B182-69A6CDA3ADC7}">
      <dsp:nvSpPr>
        <dsp:cNvPr id="0" name=""/>
        <dsp:cNvSpPr/>
      </dsp:nvSpPr>
      <dsp:spPr>
        <a:xfrm>
          <a:off x="0" y="1401140"/>
          <a:ext cx="811149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9542" tIns="312420" rIns="62954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Adult mice groom or lick other mice, often their pups, to maintain social bonds, hygiene, and comfort. It also aids in circulation and debris removal.</a:t>
          </a:r>
          <a:endParaRPr lang="en-US" sz="1500" kern="1200" dirty="0"/>
        </a:p>
      </dsp:txBody>
      <dsp:txXfrm>
        <a:off x="0" y="1401140"/>
        <a:ext cx="8111490" cy="850500"/>
      </dsp:txXfrm>
    </dsp:sp>
    <dsp:sp modelId="{6819433B-5DC4-AE46-9E78-F90ABBAE67E6}">
      <dsp:nvSpPr>
        <dsp:cNvPr id="0" name=""/>
        <dsp:cNvSpPr/>
      </dsp:nvSpPr>
      <dsp:spPr>
        <a:xfrm>
          <a:off x="405574" y="1179740"/>
          <a:ext cx="567804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617" tIns="0" rIns="2146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Licking and Grooming</a:t>
          </a:r>
          <a:endParaRPr lang="en-US" sz="1500" kern="1200" dirty="0"/>
        </a:p>
      </dsp:txBody>
      <dsp:txXfrm>
        <a:off x="427190" y="1201356"/>
        <a:ext cx="5634810" cy="399568"/>
      </dsp:txXfrm>
    </dsp:sp>
    <dsp:sp modelId="{D8F191B6-2609-4145-A367-28D43823C237}">
      <dsp:nvSpPr>
        <dsp:cNvPr id="0" name=""/>
        <dsp:cNvSpPr/>
      </dsp:nvSpPr>
      <dsp:spPr>
        <a:xfrm>
          <a:off x="0" y="2554040"/>
          <a:ext cx="8111490" cy="85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9542" tIns="312420" rIns="629542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i="1" kern="1200" dirty="0"/>
            <a:t>The adult mouse carries its pups in its mouth or nest, ensuring their safety and regulating their temperature, an essential maternal care behavior.</a:t>
          </a:r>
          <a:endParaRPr lang="en-US" sz="1500" kern="1200" dirty="0"/>
        </a:p>
      </dsp:txBody>
      <dsp:txXfrm>
        <a:off x="0" y="2554040"/>
        <a:ext cx="8111490" cy="850500"/>
      </dsp:txXfrm>
    </dsp:sp>
    <dsp:sp modelId="{AC4AF64E-83B6-0E46-8EA3-9FB0251F1CC9}">
      <dsp:nvSpPr>
        <dsp:cNvPr id="0" name=""/>
        <dsp:cNvSpPr/>
      </dsp:nvSpPr>
      <dsp:spPr>
        <a:xfrm>
          <a:off x="405574" y="2332640"/>
          <a:ext cx="5678042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617" tIns="0" rIns="21461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Carrying Pups</a:t>
          </a:r>
        </a:p>
      </dsp:txBody>
      <dsp:txXfrm>
        <a:off x="427190" y="2354256"/>
        <a:ext cx="5634810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564B4D-1B49-AB42-89D9-40B9665B7EF8}" type="datetimeFigureOut">
              <a:rPr lang="en-US" smtClean="0"/>
              <a:t>5/1/25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669D4-F150-DB4E-81AF-58D0D0906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09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644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8251-C555-1E6A-B324-D7BC63AC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3B089-9B3A-9170-28C8-47C382197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4BE15-C477-0DF6-50A5-44B4FF4F7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0382E-4CBB-8024-327B-35EA5AC34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82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44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51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95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9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17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34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9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669D4-F150-DB4E-81AF-58D0D090684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39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628650" y="181505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89490"/>
            <a:ext cx="7886700" cy="994172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>
            <a:lvl1pPr>
              <a:defRPr lang="en-US" smtClean="0">
                <a:effectLst/>
              </a:defRPr>
            </a:lvl1pPr>
          </a:lstStyle>
          <a:p>
            <a:r>
              <a:rPr lang="en-US" dirty="0" err="1">
                <a:effectLst/>
                <a:latin typeface="Arial" charset="0"/>
              </a:rPr>
              <a:t>Nequiam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dere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reiunt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officiae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officia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nimiligentia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nobit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omnimendis</a:t>
            </a:r>
            <a:r>
              <a:rPr lang="en-US" dirty="0">
                <a:effectLst/>
                <a:latin typeface="Arial" charset="0"/>
              </a:rPr>
              <a:t> in </a:t>
            </a:r>
            <a:r>
              <a:rPr lang="en-US" dirty="0" err="1">
                <a:effectLst/>
                <a:latin typeface="Arial" charset="0"/>
              </a:rPr>
              <a:t>conserf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erciendam</a:t>
            </a:r>
            <a:r>
              <a:rPr lang="en-US" dirty="0">
                <a:effectLst/>
                <a:latin typeface="Arial" charset="0"/>
              </a:rPr>
              <a:t>, </a:t>
            </a:r>
            <a:r>
              <a:rPr lang="en-US" dirty="0" err="1">
                <a:effectLst/>
                <a:latin typeface="Arial" charset="0"/>
              </a:rPr>
              <a:t>consed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maios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eos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quia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sam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quidererfero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eaque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eaquo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dolorempos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aute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maior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aut</a:t>
            </a:r>
            <a:r>
              <a:rPr lang="en-US" dirty="0">
                <a:effectLst/>
                <a:latin typeface="Arial" charset="0"/>
              </a:rPr>
              <a:t> lit </a:t>
            </a:r>
            <a:r>
              <a:rPr lang="en-US" dirty="0" err="1">
                <a:effectLst/>
                <a:latin typeface="Arial" charset="0"/>
              </a:rPr>
              <a:t>destibe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arundam</a:t>
            </a:r>
            <a:r>
              <a:rPr lang="en-US" dirty="0">
                <a:effectLst/>
                <a:latin typeface="Arial" charset="0"/>
              </a:rPr>
              <a:t> et qui </a:t>
            </a:r>
            <a:r>
              <a:rPr lang="en-US" dirty="0" err="1">
                <a:effectLst/>
                <a:latin typeface="Arial" charset="0"/>
              </a:rPr>
              <a:t>delitae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dolectur</a:t>
            </a:r>
            <a:r>
              <a:rPr lang="en-US" dirty="0">
                <a:effectLst/>
                <a:latin typeface="Arial" charset="0"/>
              </a:rPr>
              <a:t>?</a:t>
            </a:r>
          </a:p>
          <a:p>
            <a:endParaRPr lang="en-US" dirty="0">
              <a:effectLst/>
              <a:latin typeface="Arial" charset="0"/>
            </a:endParaRPr>
          </a:p>
          <a:p>
            <a:r>
              <a:rPr lang="en-US" dirty="0" err="1">
                <a:effectLst/>
                <a:latin typeface="Arial" charset="0"/>
              </a:rPr>
              <a:t>Agnisit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asitem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si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corro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conseque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delicitat</a:t>
            </a:r>
            <a:r>
              <a:rPr lang="en-US" dirty="0">
                <a:effectLst/>
                <a:latin typeface="Arial" charset="0"/>
              </a:rPr>
              <a:t> la </a:t>
            </a:r>
            <a:r>
              <a:rPr lang="en-US" dirty="0" err="1">
                <a:effectLst/>
                <a:latin typeface="Arial" charset="0"/>
              </a:rPr>
              <a:t>volupta</a:t>
            </a:r>
            <a:r>
              <a:rPr lang="en-US" dirty="0">
                <a:effectLst/>
                <a:latin typeface="Arial" charset="0"/>
              </a:rPr>
              <a:t> id </a:t>
            </a:r>
            <a:r>
              <a:rPr lang="en-US" dirty="0" err="1">
                <a:effectLst/>
                <a:latin typeface="Arial" charset="0"/>
              </a:rPr>
              <a:t>quat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harchil</a:t>
            </a:r>
            <a:r>
              <a:rPr lang="en-US" dirty="0">
                <a:effectLst/>
                <a:latin typeface="Arial" charset="0"/>
              </a:rPr>
              <a:t> </a:t>
            </a:r>
            <a:r>
              <a:rPr lang="en-US" dirty="0" err="1">
                <a:effectLst/>
                <a:latin typeface="Arial" charset="0"/>
              </a:rPr>
              <a:t>inciunt</a:t>
            </a:r>
            <a:r>
              <a:rPr lang="en-US" dirty="0">
                <a:effectLst/>
                <a:latin typeface="Arial" charset="0"/>
              </a:rPr>
              <a:t>.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rea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1170183"/>
            <a:ext cx="6858000" cy="2773168"/>
          </a:xfrm>
          <a:prstGeom prst="rect">
            <a:avLst/>
          </a:prstGeom>
        </p:spPr>
        <p:txBody>
          <a:bodyPr/>
          <a:lstStyle>
            <a:lvl1pPr marL="0" indent="0" algn="l">
              <a:buFont typeface="Arial" charset="0"/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7948" y="199920"/>
            <a:ext cx="414424" cy="437342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 flipH="1">
            <a:off x="221338" y="704532"/>
            <a:ext cx="8713112" cy="0"/>
          </a:xfrm>
          <a:prstGeom prst="line">
            <a:avLst/>
          </a:prstGeom>
          <a:ln w="31750" cap="sq">
            <a:solidFill>
              <a:srgbClr val="5B6772"/>
            </a:solidFill>
            <a:prstDash val="solid"/>
          </a:ln>
          <a:effectLst>
            <a:outerShdw blurRad="25400" dist="25400" dir="5400000" algn="t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2"/>
          <p:cNvSpPr>
            <a:spLocks noGrp="1"/>
          </p:cNvSpPr>
          <p:nvPr>
            <p:ph type="title"/>
          </p:nvPr>
        </p:nvSpPr>
        <p:spPr>
          <a:xfrm>
            <a:off x="379396" y="204348"/>
            <a:ext cx="7886700" cy="51221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Slide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3083" y="4556501"/>
            <a:ext cx="3029289" cy="22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0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7392"/>
            <a:ext cx="7886700" cy="3263504"/>
          </a:xfrm>
          <a:prstGeom prst="rect">
            <a:avLst/>
          </a:prstGeom>
        </p:spPr>
        <p:txBody>
          <a:bodyPr/>
          <a:lstStyle>
            <a:lvl1pPr>
              <a:defRPr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latin typeface="Century Gothic" charset="0"/>
                <a:ea typeface="Century Gothic" charset="0"/>
                <a:cs typeface="Century Gothic" charset="0"/>
              </a:defRPr>
            </a:lvl2pPr>
            <a:lvl3pPr>
              <a:defRPr>
                <a:latin typeface="Century Gothic" charset="0"/>
                <a:ea typeface="Century Gothic" charset="0"/>
                <a:cs typeface="Century Gothic" charset="0"/>
              </a:defRPr>
            </a:lvl3pPr>
            <a:lvl4pPr>
              <a:defRPr>
                <a:latin typeface="Century Gothic" charset="0"/>
                <a:ea typeface="Century Gothic" charset="0"/>
                <a:cs typeface="Century Gothic" charset="0"/>
              </a:defRPr>
            </a:lvl4pPr>
            <a:lvl5pPr>
              <a:defRPr>
                <a:latin typeface="Century Gothic" charset="0"/>
                <a:ea typeface="Century Gothic" charset="0"/>
                <a:cs typeface="Century Gothic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7948" y="199920"/>
            <a:ext cx="414424" cy="437342"/>
          </a:xfrm>
          <a:prstGeom prst="rect">
            <a:avLst/>
          </a:prstGeom>
        </p:spPr>
      </p:pic>
      <p:cxnSp>
        <p:nvCxnSpPr>
          <p:cNvPr id="16" name="Straight Connector 15"/>
          <p:cNvCxnSpPr/>
          <p:nvPr userDrawn="1"/>
        </p:nvCxnSpPr>
        <p:spPr>
          <a:xfrm flipH="1">
            <a:off x="221338" y="704532"/>
            <a:ext cx="8713112" cy="0"/>
          </a:xfrm>
          <a:prstGeom prst="line">
            <a:avLst/>
          </a:prstGeom>
          <a:ln w="31750" cap="sq">
            <a:solidFill>
              <a:srgbClr val="5B6772"/>
            </a:solidFill>
            <a:prstDash val="solid"/>
          </a:ln>
          <a:effectLst>
            <a:outerShdw blurRad="25400" dist="25400" dir="5400000" algn="t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79396" y="274126"/>
            <a:ext cx="7886700" cy="4656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3083" y="4556501"/>
            <a:ext cx="3029289" cy="22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1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61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815050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5176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1" r:id="rId2"/>
    <p:sldLayoutId id="2147483667" r:id="rId3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Arial" charset="0"/>
          <a:ea typeface="Arial" charset="0"/>
          <a:cs typeface="Arial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07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rgbClr val="0539A6"/>
          </a:solidFill>
          <a:latin typeface="Century Gothic" charset="0"/>
          <a:ea typeface="Century Gothic" charset="0"/>
          <a:cs typeface="Century Gothic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38300"/>
            <a:ext cx="9144000" cy="3505201"/>
          </a:xfrm>
          <a:prstGeom prst="rect">
            <a:avLst/>
          </a:prstGeom>
          <a:solidFill>
            <a:srgbClr val="0539A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614" y="2040361"/>
            <a:ext cx="7753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rgbClr val="FFFFFF"/>
                </a:solidFill>
                <a:ea typeface="Century Gothic" charset="0"/>
                <a:cs typeface="Century Gothic" charset="0"/>
              </a:rPr>
              <a:t>TailOR</a:t>
            </a:r>
            <a:r>
              <a:rPr lang="en-US" sz="3000" dirty="0">
                <a:solidFill>
                  <a:srgbClr val="FFFFFF"/>
                </a:solidFill>
                <a:ea typeface="Century Gothic" charset="0"/>
                <a:cs typeface="Century Gothic" charset="0"/>
              </a:rPr>
              <a:t>: An automated Mouse Behavior Tagging and Extraction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7742" y="3371256"/>
            <a:ext cx="1968608" cy="1583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2925" y="4215029"/>
            <a:ext cx="19809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ea typeface="Century Gothic" charset="0"/>
                <a:cs typeface="Century Gothic" charset="0"/>
              </a:rPr>
              <a:t>Madhu Sudhan Reddy Konda</a:t>
            </a:r>
          </a:p>
          <a:p>
            <a:r>
              <a:rPr lang="en-US" sz="1200" dirty="0">
                <a:solidFill>
                  <a:srgbClr val="FFFFFF"/>
                </a:solidFill>
                <a:ea typeface="Century Gothic" charset="0"/>
                <a:cs typeface="Century Gothic" charset="0"/>
              </a:rPr>
              <a:t>002847774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755572-E3B0-C66E-9C2E-2FC7B8C57BEC}"/>
              </a:ext>
            </a:extLst>
          </p:cNvPr>
          <p:cNvSpPr txBox="1"/>
          <p:nvPr/>
        </p:nvSpPr>
        <p:spPr>
          <a:xfrm>
            <a:off x="7610640" y="4848584"/>
            <a:ext cx="10246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a typeface="Century Gothic" charset="0"/>
                <a:cs typeface="Century Gothic" charset="0"/>
              </a:rPr>
              <a:t>04/24/2025</a:t>
            </a:r>
          </a:p>
        </p:txBody>
      </p:sp>
    </p:spTree>
    <p:extLst>
      <p:ext uri="{BB962C8B-B14F-4D97-AF65-F5344CB8AC3E}">
        <p14:creationId xmlns:p14="http://schemas.microsoft.com/office/powerpoint/2010/main" val="36058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FBE550-54F0-E0C3-9CBC-ED15730D5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763210"/>
              </p:ext>
            </p:extLst>
          </p:nvPr>
        </p:nvGraphicFramePr>
        <p:xfrm>
          <a:off x="628650" y="1011409"/>
          <a:ext cx="8177420" cy="3709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43268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7B41D-3035-3834-0384-190F2F7D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490"/>
            <a:ext cx="7886700" cy="87063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  <a:effectLst/>
                <a:latin typeface="+mj-lt"/>
              </a:rPr>
              <a:t>Target Behaviors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9DA1BE-15A2-2122-5EB7-113C8197D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0450986"/>
              </p:ext>
            </p:extLst>
          </p:nvPr>
        </p:nvGraphicFramePr>
        <p:xfrm>
          <a:off x="628650" y="960120"/>
          <a:ext cx="8111490" cy="343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9296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15AB1-EC30-D797-8183-CCD9A865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-506068"/>
            <a:ext cx="3175795" cy="1212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400" dirty="0">
                <a:latin typeface="+mj-lt"/>
                <a:ea typeface="+mj-ea"/>
                <a:cs typeface="+mj-cs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A801B-B483-70B6-2E39-43EDDB8FB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019" y="1368181"/>
            <a:ext cx="3723981" cy="29383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spcAft>
                <a:spcPts val="750"/>
              </a:spcAft>
            </a:pPr>
            <a:r>
              <a:rPr lang="en-US" sz="1400" dirty="0">
                <a:effectLst/>
              </a:rPr>
              <a:t>Available tools like </a:t>
            </a:r>
            <a:r>
              <a:rPr lang="en-US" sz="1400" dirty="0" err="1">
                <a:effectLst/>
              </a:rPr>
              <a:t>SimBA</a:t>
            </a:r>
            <a:r>
              <a:rPr lang="en-US" sz="1400" dirty="0">
                <a:effectLst/>
              </a:rPr>
              <a:t> are primarily used on videos with the Top angle view, which is impossible for maternal care due to Food and water storage in the home cage.</a:t>
            </a:r>
          </a:p>
          <a:p>
            <a:pPr indent="-228600" defTabSz="914400">
              <a:spcAft>
                <a:spcPts val="750"/>
              </a:spcAft>
            </a:pPr>
            <a:r>
              <a:rPr lang="en-US" sz="1400" dirty="0">
                <a:effectLst/>
              </a:rPr>
              <a:t>The animal gets occluded by the nesting and reemerges during the runtime of the experiment, which is difficult to track.</a:t>
            </a:r>
          </a:p>
          <a:p>
            <a:pPr indent="-228600" defTabSz="914400"/>
            <a:r>
              <a:rPr lang="en-US" sz="1400" dirty="0">
                <a:effectLst/>
              </a:rPr>
              <a:t>May not be sophisticated enough for certain behavior classifications, like distinguishing </a:t>
            </a:r>
            <a:r>
              <a:rPr lang="en-US" sz="1400" dirty="0"/>
              <a:t>Eating </a:t>
            </a:r>
            <a:r>
              <a:rPr lang="en-US" sz="1400" dirty="0">
                <a:effectLst/>
              </a:rPr>
              <a:t> and Off-nest.</a:t>
            </a:r>
          </a:p>
          <a:p>
            <a:pPr indent="-228600" defTabSz="914400"/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A8C688-9372-E438-AB5B-086929E91B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1714"/>
          <a:stretch/>
        </p:blipFill>
        <p:spPr>
          <a:xfrm>
            <a:off x="4480619" y="836964"/>
            <a:ext cx="4090159" cy="373851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34FA563-76F6-CDCF-AEA0-A7B78E446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053288"/>
            <a:ext cx="9155399" cy="92522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2E3CAA-F1BA-6695-301D-22564C382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F3F0F2C-04A5-144D-BDCF-C38707289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074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679C0-BF0E-A9FA-F69E-F5BC8C5DD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8D7B0-48BE-3146-E212-B1CA4B5F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519" y="-506068"/>
            <a:ext cx="3175795" cy="1212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400" dirty="0"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C8321-E542-8762-90B9-25CE73A9C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019" y="1368181"/>
            <a:ext cx="3723981" cy="29383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/>
            <a:r>
              <a:rPr lang="en-US" sz="1400" dirty="0"/>
              <a:t>Video of mouse.</a:t>
            </a:r>
          </a:p>
          <a:p>
            <a:pPr indent="-228600" defTabSz="914400"/>
            <a:r>
              <a:rPr lang="en-US" sz="1400" dirty="0"/>
              <a:t>Boris labelling of video.</a:t>
            </a:r>
          </a:p>
          <a:p>
            <a:pPr indent="-228600" defTabSz="914400"/>
            <a:r>
              <a:rPr lang="en-US" sz="1400" dirty="0"/>
              <a:t>Fps = 30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C0DA47-7724-EB3A-6170-2DC87BF26E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" b="1714"/>
          <a:stretch/>
        </p:blipFill>
        <p:spPr>
          <a:xfrm>
            <a:off x="4480619" y="836964"/>
            <a:ext cx="4090159" cy="373851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531D05A-197E-DA0D-A831-FB2D682CF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768" y="5053288"/>
            <a:ext cx="9155399" cy="92522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9BB70B-2552-55B6-97D0-0D6A7145A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7970DE-C3C4-EB82-B843-CE8E4A9C0A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4605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148F7-6E36-099D-5586-D61EBFD1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BE655-EE2E-6FFC-8DF7-E4484B661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/>
              <a:t>We leverage state-of-the-art algorithms and computer vision techniques to automate behavior tagging with minimal human feedback.</a:t>
            </a:r>
          </a:p>
          <a:p>
            <a:pPr marL="0" indent="0">
              <a:buNone/>
            </a:pPr>
            <a:r>
              <a:rPr lang="en-US" sz="1800" b="1" dirty="0"/>
              <a:t>Breakdown</a:t>
            </a:r>
            <a:r>
              <a:rPr lang="en-US" sz="1400" b="1" dirty="0"/>
              <a:t>:</a:t>
            </a:r>
          </a:p>
          <a:p>
            <a:pPr marL="342900" lvl="1" indent="0">
              <a:buNone/>
            </a:pPr>
            <a:r>
              <a:rPr lang="en-US" sz="1400" b="1" dirty="0"/>
              <a:t>Object Detection</a:t>
            </a:r>
          </a:p>
          <a:p>
            <a:pPr lvl="2"/>
            <a:r>
              <a:rPr lang="en-US" sz="1100" dirty="0"/>
              <a:t>Utilizes segmentation models(SAM2)  to generate masks for identifying animals and key objects.</a:t>
            </a:r>
          </a:p>
          <a:p>
            <a:pPr lvl="2"/>
            <a:r>
              <a:rPr lang="en-US" sz="1100" dirty="0"/>
              <a:t>Extracts geometric features such as centroids, speed, and displacement metrics for analysis.</a:t>
            </a:r>
          </a:p>
          <a:p>
            <a:pPr marL="342900" lvl="1" indent="0">
              <a:buNone/>
            </a:pPr>
            <a:r>
              <a:rPr lang="en-US" sz="1400" b="1" dirty="0"/>
              <a:t>Animal Pose Detection</a:t>
            </a:r>
          </a:p>
          <a:p>
            <a:pPr lvl="2"/>
            <a:r>
              <a:rPr lang="en-US" sz="1100" dirty="0"/>
              <a:t>Uses </a:t>
            </a:r>
            <a:r>
              <a:rPr lang="en-US" sz="1100" dirty="0" err="1"/>
              <a:t>DeepLabCut</a:t>
            </a:r>
            <a:r>
              <a:rPr lang="en-US" sz="1100" dirty="0"/>
              <a:t> to estimate animal poses and extract posture-related features.</a:t>
            </a:r>
          </a:p>
          <a:p>
            <a:pPr marL="342900" lvl="1" indent="0">
              <a:buNone/>
            </a:pPr>
            <a:r>
              <a:rPr lang="en-US" sz="1400" b="1" dirty="0"/>
              <a:t>Behavior Tagging</a:t>
            </a:r>
          </a:p>
          <a:p>
            <a:pPr lvl="2"/>
            <a:r>
              <a:rPr lang="en-US" sz="1200" dirty="0"/>
              <a:t>Applies predefined thresholds and motion-pattern rules to classify behaviors automatically.</a:t>
            </a:r>
          </a:p>
          <a:p>
            <a:pPr lvl="2"/>
            <a:r>
              <a:rPr lang="en-US" sz="1200" dirty="0"/>
              <a:t>Employs a random-forest algorithm for robust behavior classification.</a:t>
            </a:r>
            <a:r>
              <a:rPr lang="en-US" sz="1100" dirty="0"/>
              <a:t>.</a:t>
            </a:r>
          </a:p>
          <a:p>
            <a:pPr lvl="2"/>
            <a:r>
              <a:rPr lang="en-US" sz="1200" dirty="0"/>
              <a:t>Ensures adaptability across species by focusing on generalizable movement characteristics.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789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E83C-E0A3-D8CE-5AC8-577BAA77C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529" y="-468889"/>
            <a:ext cx="4449886" cy="1212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400" dirty="0">
                <a:latin typeface="+mj-lt"/>
                <a:ea typeface="+mj-ea"/>
                <a:cs typeface="+mj-cs"/>
              </a:rPr>
              <a:t>Object Detection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EA83DF-35A8-9CC8-3C8E-C3F32BECC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14725" cy="5143500"/>
          </a:xfrm>
          <a:prstGeom prst="rect">
            <a:avLst/>
          </a:prstGeom>
          <a:solidFill>
            <a:schemeClr val="bg1">
              <a:lumMod val="95000"/>
              <a:alpha val="88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6A29D64-B4CD-CEFF-8174-BCDB2EA4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2" cy="5143500"/>
            <a:chOff x="12068638" y="0"/>
            <a:chExt cx="123362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5271C26-E797-25E4-4A2D-5AA7A104D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E4BD6EF-3C9D-3DEF-A540-84C50BAA5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C2F10CA-51D7-7F48-69BA-0689B77B0C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237" b="-2"/>
          <a:stretch/>
        </p:blipFill>
        <p:spPr>
          <a:xfrm>
            <a:off x="930687" y="657225"/>
            <a:ext cx="1689746" cy="11688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8884CC-91CB-D678-BAB4-EF4FD76153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88" r="12149" b="-2"/>
          <a:stretch/>
        </p:blipFill>
        <p:spPr>
          <a:xfrm>
            <a:off x="917458" y="1974123"/>
            <a:ext cx="1716206" cy="1187182"/>
          </a:xfrm>
          <a:prstGeom prst="rect">
            <a:avLst/>
          </a:prstGeom>
        </p:spPr>
      </p:pic>
      <p:pic>
        <p:nvPicPr>
          <p:cNvPr id="8" name="Picture 7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0647B6E8-E9B3-D42F-72BE-0F199EE61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923" y="3316084"/>
            <a:ext cx="1959275" cy="11951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5D7F1-8A1C-2D96-51E0-BC5C8AE3F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6656" y="1066094"/>
            <a:ext cx="4449886" cy="25858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spcAft>
                <a:spcPts val="750"/>
              </a:spcAft>
            </a:pPr>
            <a:r>
              <a:rPr lang="en-US" sz="1100" dirty="0">
                <a:effectLst/>
              </a:rPr>
              <a:t>Computer Vision Integration: Apply SAM2 to generate precise behavioral masks.</a:t>
            </a:r>
          </a:p>
          <a:p>
            <a:pPr indent="-228600" defTabSz="914400">
              <a:spcAft>
                <a:spcPts val="750"/>
              </a:spcAft>
            </a:pPr>
            <a:r>
              <a:rPr lang="en-US" sz="1100" dirty="0">
                <a:effectLst/>
              </a:rPr>
              <a:t>Metric Extraction: Derive Geometric metrics from the generated masks for detailed analysis.</a:t>
            </a:r>
          </a:p>
          <a:p>
            <a:pPr indent="-228600" defTabSz="914400">
              <a:spcAft>
                <a:spcPts val="450"/>
              </a:spcAft>
            </a:pPr>
            <a:r>
              <a:rPr lang="en-US" sz="1100" dirty="0">
                <a:effectLst/>
              </a:rPr>
              <a:t> The centroids of the mouse and nest masks were calculated based on the generated SAM2 masks.</a:t>
            </a:r>
          </a:p>
          <a:p>
            <a:pPr indent="-228600" defTabSz="914400">
              <a:spcAft>
                <a:spcPts val="450"/>
              </a:spcAft>
            </a:pPr>
            <a:r>
              <a:rPr lang="en-US" sz="1100" dirty="0">
                <a:effectLst/>
              </a:rPr>
              <a:t> These centroids are essential for calculating displacement across frames, allowing us to observe motion for both the mouse and nest.</a:t>
            </a:r>
          </a:p>
          <a:p>
            <a:pPr indent="-228600" defTabSz="914400">
              <a:spcAft>
                <a:spcPts val="450"/>
              </a:spcAft>
            </a:pPr>
            <a:r>
              <a:rPr lang="en-US" sz="1100" dirty="0">
                <a:effectLst/>
              </a:rPr>
              <a:t> Displacement is detected by comparing centroids at specific intervals, such as between Frame 1 and Frame 10, and continuing this approach throughout the video.</a:t>
            </a:r>
          </a:p>
          <a:p>
            <a:pPr marL="0" indent="-228600" defTabSz="914400">
              <a:spcAft>
                <a:spcPts val="450"/>
              </a:spcAft>
            </a:pPr>
            <a:endParaRPr lang="en-US" sz="1100" dirty="0">
              <a:effectLst/>
            </a:endParaRPr>
          </a:p>
          <a:p>
            <a:pPr marL="0" indent="-228600" defTabSz="914400">
              <a:spcAft>
                <a:spcPts val="450"/>
              </a:spcAft>
            </a:pPr>
            <a:endParaRPr lang="en-US" sz="1100" dirty="0">
              <a:effectLst/>
            </a:endParaRPr>
          </a:p>
          <a:p>
            <a:pPr indent="-228600" defTabSz="914400">
              <a:spcAft>
                <a:spcPts val="750"/>
              </a:spcAft>
            </a:pPr>
            <a:endParaRPr lang="en-US" sz="1100" dirty="0">
              <a:effectLst/>
            </a:endParaRPr>
          </a:p>
          <a:p>
            <a:pPr marL="0" indent="-228600" defTabSz="914400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76460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687E8-2762-BE19-7A71-0EF7144E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metrics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8C46C-DD6F-D322-CDDF-0C76F13C9F71}"/>
              </a:ext>
            </a:extLst>
          </p:cNvPr>
          <p:cNvSpPr txBox="1"/>
          <p:nvPr/>
        </p:nvSpPr>
        <p:spPr>
          <a:xfrm>
            <a:off x="2326341" y="1707776"/>
            <a:ext cx="3658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C1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03ECBAA-F843-7FCB-3713-D3729D819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0786" y="1248989"/>
            <a:ext cx="5817582" cy="3262312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BAF5E9-E5A7-214E-6114-8DF4F5049D15}"/>
              </a:ext>
            </a:extLst>
          </p:cNvPr>
          <p:cNvSpPr txBox="1"/>
          <p:nvPr/>
        </p:nvSpPr>
        <p:spPr>
          <a:xfrm>
            <a:off x="2326341" y="1707776"/>
            <a:ext cx="3658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F6B481-2528-1B36-0C42-F25A03EDEE61}"/>
              </a:ext>
            </a:extLst>
          </p:cNvPr>
          <p:cNvSpPr txBox="1"/>
          <p:nvPr/>
        </p:nvSpPr>
        <p:spPr>
          <a:xfrm>
            <a:off x="6091518" y="1707776"/>
            <a:ext cx="36580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39C931-54F4-7E41-F782-FFF5B6D04038}"/>
              </a:ext>
            </a:extLst>
          </p:cNvPr>
          <p:cNvSpPr txBox="1"/>
          <p:nvPr/>
        </p:nvSpPr>
        <p:spPr>
          <a:xfrm>
            <a:off x="5822576" y="3966882"/>
            <a:ext cx="3658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4C0178-6659-D7FB-EDA3-05009AFE4DD5}"/>
              </a:ext>
            </a:extLst>
          </p:cNvPr>
          <p:cNvSpPr txBox="1"/>
          <p:nvPr/>
        </p:nvSpPr>
        <p:spPr>
          <a:xfrm>
            <a:off x="2692147" y="3966882"/>
            <a:ext cx="3658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C72EEB-0328-5DF0-E557-AF8A3EC965A9}"/>
              </a:ext>
            </a:extLst>
          </p:cNvPr>
          <p:cNvSpPr txBox="1"/>
          <p:nvPr/>
        </p:nvSpPr>
        <p:spPr>
          <a:xfrm>
            <a:off x="4339771" y="2772229"/>
            <a:ext cx="52790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18C211-A9C6-A932-0215-14AB5BA26C34}"/>
              </a:ext>
            </a:extLst>
          </p:cNvPr>
          <p:cNvSpPr txBox="1"/>
          <p:nvPr/>
        </p:nvSpPr>
        <p:spPr>
          <a:xfrm>
            <a:off x="3207657" y="3454400"/>
            <a:ext cx="50654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Nest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5FAA36-EE78-E33B-51DC-A35A444BCBBF}"/>
              </a:ext>
            </a:extLst>
          </p:cNvPr>
          <p:cNvSpPr txBox="1"/>
          <p:nvPr/>
        </p:nvSpPr>
        <p:spPr>
          <a:xfrm>
            <a:off x="4180114" y="3352800"/>
            <a:ext cx="66877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Mouse</a:t>
            </a:r>
          </a:p>
        </p:txBody>
      </p:sp>
    </p:spTree>
    <p:extLst>
      <p:ext uri="{BB962C8B-B14F-4D97-AF65-F5344CB8AC3E}">
        <p14:creationId xmlns:p14="http://schemas.microsoft.com/office/powerpoint/2010/main" val="1509310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18DA7-FB1A-FFBF-15F2-D1059F6E7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3AA73F-EBD7-4FA4-2B61-18833AEDC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6788" y="920652"/>
            <a:ext cx="6911788" cy="4066103"/>
          </a:xfrm>
        </p:spPr>
      </p:pic>
    </p:spTree>
    <p:extLst>
      <p:ext uri="{BB962C8B-B14F-4D97-AF65-F5344CB8AC3E}">
        <p14:creationId xmlns:p14="http://schemas.microsoft.com/office/powerpoint/2010/main" val="1268536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8561E-2340-38AD-5D1B-2A11AECFB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Behavior Tagging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8BE2-8617-FB82-1013-55308F5A2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70" y="873919"/>
            <a:ext cx="8317230" cy="3675222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Defining thresholds:</a:t>
            </a:r>
          </a:p>
          <a:p>
            <a:pPr marL="342900" lvl="1" indent="0">
              <a:buNone/>
            </a:pPr>
            <a:r>
              <a:rPr lang="en-US" sz="1100" b="1" dirty="0"/>
              <a:t>Nest Building</a:t>
            </a:r>
            <a:r>
              <a:rPr lang="en-US" sz="1100" dirty="0"/>
              <a:t>:</a:t>
            </a:r>
          </a:p>
          <a:p>
            <a:pPr lvl="1"/>
            <a:r>
              <a:rPr lang="en-US" sz="1000" dirty="0"/>
              <a:t>If nest displacement is greater than NEST_THRESHOLD.</a:t>
            </a:r>
          </a:p>
          <a:p>
            <a:pPr lvl="1"/>
            <a:r>
              <a:rPr lang="en-US" sz="1000" dirty="0"/>
              <a:t>If the Euclidean distance between the mouse and the nest is less than </a:t>
            </a:r>
            <a:r>
              <a:rPr lang="en-US" sz="1000" dirty="0" err="1"/>
              <a:t>Distance_Threshold</a:t>
            </a:r>
            <a:r>
              <a:rPr lang="en-US" sz="1000" dirty="0"/>
              <a:t>, transition to this activity.</a:t>
            </a:r>
          </a:p>
          <a:p>
            <a:pPr marL="342900" lvl="1" indent="0">
              <a:buNone/>
            </a:pPr>
            <a:r>
              <a:rPr lang="en-US" sz="1100" b="1" dirty="0"/>
              <a:t>Mouse Off-Nest</a:t>
            </a:r>
            <a:r>
              <a:rPr lang="en-US" sz="1100" dirty="0"/>
              <a:t>:</a:t>
            </a:r>
          </a:p>
          <a:p>
            <a:pPr lvl="1"/>
            <a:r>
              <a:rPr lang="en-US" sz="1000" dirty="0"/>
              <a:t>If the Euclidean distance between the mouse and the nest is greater than or equal to </a:t>
            </a:r>
            <a:r>
              <a:rPr lang="en-US" sz="1000" dirty="0" err="1"/>
              <a:t>Distance_Threshold</a:t>
            </a:r>
            <a:r>
              <a:rPr lang="en-US" sz="1000" dirty="0"/>
              <a:t>.</a:t>
            </a:r>
          </a:p>
          <a:p>
            <a:pPr lvl="1"/>
            <a:r>
              <a:rPr lang="en-US" sz="1000" dirty="0"/>
              <a:t>If the nest displacement is less than or equal to NEST_THRESHOLD and the mouse displacement exceeds </a:t>
            </a:r>
            <a:r>
              <a:rPr lang="en-US" sz="1000" dirty="0" err="1"/>
              <a:t>MOUSE_THRESHOLD_Offnest</a:t>
            </a:r>
            <a:r>
              <a:rPr lang="en-US" sz="1000" dirty="0"/>
              <a:t>, transition to this activity</a:t>
            </a:r>
            <a:r>
              <a:rPr lang="en-US" sz="800" dirty="0"/>
              <a:t>.</a:t>
            </a:r>
          </a:p>
          <a:p>
            <a:pPr marL="342900" lvl="1" indent="0">
              <a:buNone/>
            </a:pPr>
            <a:r>
              <a:rPr lang="en-US" sz="1100" b="1" dirty="0"/>
              <a:t>Mouse Eating or Drinking</a:t>
            </a:r>
            <a:r>
              <a:rPr lang="en-US" sz="1100" dirty="0"/>
              <a:t>:</a:t>
            </a:r>
          </a:p>
          <a:p>
            <a:pPr lvl="1"/>
            <a:r>
              <a:rPr lang="en-US" sz="1000" dirty="0"/>
              <a:t>If the Euclidean distance between the mouse and the nest is greater than or equal to </a:t>
            </a:r>
            <a:r>
              <a:rPr lang="en-US" sz="1000" dirty="0" err="1"/>
              <a:t>Distance_Threshold</a:t>
            </a:r>
            <a:r>
              <a:rPr lang="en-US" sz="1000" dirty="0"/>
              <a:t>.</a:t>
            </a:r>
          </a:p>
          <a:p>
            <a:pPr lvl="1"/>
            <a:r>
              <a:rPr lang="en-US" sz="1000" dirty="0"/>
              <a:t>If the nest displacement is less than or equal to NEST_THRESHOLD and the mouse displacement is less than or equal to </a:t>
            </a:r>
            <a:r>
              <a:rPr lang="en-US" sz="1000" dirty="0" err="1"/>
              <a:t>MOUSE_THRESHOLD_eating</a:t>
            </a:r>
            <a:r>
              <a:rPr lang="en-US" sz="1000" dirty="0"/>
              <a:t>, transition to this activity.</a:t>
            </a:r>
          </a:p>
          <a:p>
            <a:pPr lvl="1"/>
            <a:r>
              <a:rPr lang="en-US" sz="1000" dirty="0"/>
              <a:t>Pose analysis is necessary to differentiate between sleeping and eating.</a:t>
            </a:r>
            <a:endParaRPr lang="en-US" sz="1000" b="1" dirty="0"/>
          </a:p>
          <a:p>
            <a:pPr marL="0" indent="0">
              <a:buNone/>
            </a:pPr>
            <a:r>
              <a:rPr lang="en-US" sz="1400" b="1" dirty="0"/>
              <a:t>Activity Classification Enhancement:</a:t>
            </a:r>
            <a:r>
              <a:rPr lang="en-US" sz="1400" dirty="0"/>
              <a:t> To differentiate between similar activities (e.g., eating vs. off-nest), we incorporate posture analysis alongside SAM2-derived displacement metrics.</a:t>
            </a:r>
          </a:p>
          <a:p>
            <a:pPr marL="0" indent="0">
              <a:buNone/>
            </a:pPr>
            <a:r>
              <a:rPr lang="en-US" sz="1400" b="1" dirty="0"/>
              <a:t>Posture-Based Disambiguation:</a:t>
            </a:r>
            <a:r>
              <a:rPr lang="en-US" sz="1400" dirty="0"/>
              <a:t> By analyzing the shape and orientation of the mouse within the mask, we can classify behaviors more accurately, distinguishing between actions like eating and general off-nest movement.</a:t>
            </a:r>
          </a:p>
          <a:p>
            <a:pPr marL="0" indent="0"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21308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B5FB7-CADD-01E7-E470-AC000497B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829" y="-478938"/>
            <a:ext cx="3368866" cy="1212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400" dirty="0">
                <a:latin typeface="+mj-lt"/>
                <a:ea typeface="+mj-ea"/>
                <a:cs typeface="+mj-cs"/>
              </a:rPr>
              <a:t>Animal Pose Detection</a:t>
            </a:r>
          </a:p>
        </p:txBody>
      </p:sp>
      <p:pic>
        <p:nvPicPr>
          <p:cNvPr id="6" name="Picture 5" descr="A mouse in a cage&#10;&#10;Description automatically generated">
            <a:extLst>
              <a:ext uri="{FF2B5EF4-FFF2-40B4-BE49-F238E27FC236}">
                <a16:creationId xmlns:a16="http://schemas.microsoft.com/office/drawing/2014/main" id="{EAD27DCA-6A12-0539-99DE-C05046BC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54" r="17277" b="-3"/>
          <a:stretch/>
        </p:blipFill>
        <p:spPr>
          <a:xfrm>
            <a:off x="20" y="10"/>
            <a:ext cx="4571980" cy="514349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5143500"/>
            <a:chOff x="12068638" y="0"/>
            <a:chExt cx="123362" cy="68580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1EE8A-DC60-97AE-DD6E-A85431DA3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699" y="945514"/>
            <a:ext cx="3368865" cy="25858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spcAft>
                <a:spcPts val="750"/>
              </a:spcAft>
            </a:pPr>
            <a:r>
              <a:rPr lang="en-US" sz="1300" dirty="0">
                <a:effectLst/>
              </a:rPr>
              <a:t>Investigated available pose estimation tools like </a:t>
            </a:r>
            <a:r>
              <a:rPr lang="en-US" sz="1300" dirty="0" err="1">
                <a:effectLst/>
              </a:rPr>
              <a:t>DeepLabCut</a:t>
            </a:r>
            <a:r>
              <a:rPr lang="en-US" sz="1300" dirty="0">
                <a:effectLst/>
              </a:rPr>
              <a:t> and SLEAP.</a:t>
            </a:r>
          </a:p>
          <a:p>
            <a:pPr indent="-228600" defTabSz="914400">
              <a:spcAft>
                <a:spcPts val="750"/>
              </a:spcAft>
            </a:pPr>
            <a:r>
              <a:rPr lang="en-US" sz="1300" dirty="0">
                <a:effectLst/>
              </a:rPr>
              <a:t>We found </a:t>
            </a:r>
            <a:r>
              <a:rPr lang="en-US" sz="1300" dirty="0" err="1">
                <a:effectLst/>
              </a:rPr>
              <a:t>DeepLabCut</a:t>
            </a:r>
            <a:r>
              <a:rPr lang="en-US" sz="1300" dirty="0">
                <a:effectLst/>
              </a:rPr>
              <a:t> produces better results per our requirements and data.</a:t>
            </a:r>
          </a:p>
          <a:p>
            <a:pPr indent="-228600" defTabSz="914400"/>
            <a:r>
              <a:rPr lang="en-US" sz="1300" b="1" dirty="0">
                <a:effectLst/>
              </a:rPr>
              <a:t>Points Detected:</a:t>
            </a:r>
            <a:endParaRPr lang="en-US" sz="1300" dirty="0">
              <a:effectLst/>
            </a:endParaRPr>
          </a:p>
          <a:p>
            <a:pPr marL="742950" lvl="1" indent="-228600" defTabSz="914400"/>
            <a:r>
              <a:rPr lang="en-US" sz="1300" dirty="0">
                <a:effectLst/>
              </a:rPr>
              <a:t>Head </a:t>
            </a:r>
          </a:p>
          <a:p>
            <a:pPr marL="742950" lvl="1" indent="-228600" defTabSz="914400"/>
            <a:r>
              <a:rPr lang="en-US" sz="1300" dirty="0">
                <a:effectLst/>
              </a:rPr>
              <a:t>Ears</a:t>
            </a:r>
          </a:p>
          <a:p>
            <a:pPr marL="742950" lvl="1" indent="-228600" defTabSz="914400"/>
            <a:r>
              <a:rPr lang="en-US" sz="1300" dirty="0">
                <a:effectLst/>
              </a:rPr>
              <a:t>Front Paws </a:t>
            </a:r>
          </a:p>
          <a:p>
            <a:pPr marL="742950" lvl="1" indent="-228600" defTabSz="914400"/>
            <a:r>
              <a:rPr lang="en-US" sz="1300" dirty="0">
                <a:effectLst/>
              </a:rPr>
              <a:t>Hind Paws </a:t>
            </a:r>
          </a:p>
          <a:p>
            <a:pPr marL="742950" lvl="1" indent="-228600" defTabSz="914400"/>
            <a:r>
              <a:rPr lang="en-US" sz="1300" dirty="0">
                <a:effectLst/>
              </a:rPr>
              <a:t>Back</a:t>
            </a:r>
          </a:p>
          <a:p>
            <a:pPr indent="-228600" defTabSz="914400"/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58206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C12D-FF68-500E-6296-A6E15CE7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CAA3-CF4F-82DD-8D04-62FEEEA4A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490"/>
            <a:ext cx="7886700" cy="71940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Random forest for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78904-289E-DB09-94ED-CC60459AE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854" y="939997"/>
            <a:ext cx="4547612" cy="3817353"/>
          </a:xfrm>
        </p:spPr>
        <p:txBody>
          <a:bodyPr/>
          <a:lstStyle/>
          <a:p>
            <a:r>
              <a:rPr lang="en-US" sz="1800" dirty="0"/>
              <a:t>Decision Tree generated using Random Forest Algorithm on 10-minute video for three activities:</a:t>
            </a:r>
          </a:p>
          <a:p>
            <a:pPr lvl="1"/>
            <a:r>
              <a:rPr lang="en-US" dirty="0"/>
              <a:t>Eating</a:t>
            </a:r>
          </a:p>
          <a:p>
            <a:pPr lvl="1"/>
            <a:r>
              <a:rPr lang="en-US" dirty="0"/>
              <a:t>Off-Nest</a:t>
            </a:r>
          </a:p>
          <a:p>
            <a:pPr lvl="1"/>
            <a:r>
              <a:rPr lang="en-US" dirty="0"/>
              <a:t>Nest Building</a:t>
            </a:r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C37C4F2D-7978-2CE9-C125-C879F63EB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6" r="12987" b="3"/>
          <a:stretch/>
        </p:blipFill>
        <p:spPr>
          <a:xfrm>
            <a:off x="446534" y="939997"/>
            <a:ext cx="2635430" cy="410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16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6E3A-A6FC-F9C2-63B9-799106C5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CC4B-B94F-442A-DC71-2AEE741C8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490"/>
            <a:ext cx="7886700" cy="71940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Ran decision tree on new video ( 1 hour)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C13AA-52E8-E3AC-DC12-0233AB84A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9854" y="939997"/>
            <a:ext cx="4547612" cy="3817353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From frame 1285 till frame 1413.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Actual activity: Off Nest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Detected Activities: Off Nest, Eating, Nest Building</a:t>
            </a:r>
          </a:p>
          <a:p>
            <a:pPr lvl="1"/>
            <a:r>
              <a:rPr lang="en-US" dirty="0"/>
              <a:t>Since SAM2 was unable to segment the mouse in these frames, I applied forward fill to handle the missing values.</a:t>
            </a:r>
          </a:p>
        </p:txBody>
      </p:sp>
      <p:pic>
        <p:nvPicPr>
          <p:cNvPr id="6" name="Picture 5" descr="A close-up of a cage&#10;&#10;Description automatically generated">
            <a:extLst>
              <a:ext uri="{FF2B5EF4-FFF2-40B4-BE49-F238E27FC236}">
                <a16:creationId xmlns:a16="http://schemas.microsoft.com/office/drawing/2014/main" id="{B0E618B6-BB6E-D41A-696E-8B511CCCD1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91" r="13870" b="-1"/>
          <a:stretch/>
        </p:blipFill>
        <p:spPr>
          <a:xfrm>
            <a:off x="286279" y="3407876"/>
            <a:ext cx="2298357" cy="1755636"/>
          </a:xfrm>
          <a:prstGeom prst="rect">
            <a:avLst/>
          </a:prstGeom>
        </p:spPr>
      </p:pic>
      <p:pic>
        <p:nvPicPr>
          <p:cNvPr id="7" name="Content Placeholder 3" descr="A close-up of a machine&#10;&#10;Description automatically generated">
            <a:extLst>
              <a:ext uri="{FF2B5EF4-FFF2-40B4-BE49-F238E27FC236}">
                <a16:creationId xmlns:a16="http://schemas.microsoft.com/office/drawing/2014/main" id="{ADBED8E6-F345-FD83-A099-BA0165AC0B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65" r="10495" b="-1"/>
          <a:stretch/>
        </p:blipFill>
        <p:spPr>
          <a:xfrm>
            <a:off x="2426043" y="3387864"/>
            <a:ext cx="2298357" cy="1755636"/>
          </a:xfrm>
          <a:prstGeom prst="rect">
            <a:avLst/>
          </a:prstGeom>
        </p:spPr>
      </p:pic>
      <p:sp>
        <p:nvSpPr>
          <p:cNvPr id="12" name="AutoShape 2">
            <a:extLst>
              <a:ext uri="{FF2B5EF4-FFF2-40B4-BE49-F238E27FC236}">
                <a16:creationId xmlns:a16="http://schemas.microsoft.com/office/drawing/2014/main" id="{6A1A5A16-E1EC-7D1A-17EE-E197703619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E93AA368-DDD5-08CA-1FF1-FECB0589C25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 descr="A screenshot of a computer&#10;&#10;Description automatically generated">
            <a:extLst>
              <a:ext uri="{FF2B5EF4-FFF2-40B4-BE49-F238E27FC236}">
                <a16:creationId xmlns:a16="http://schemas.microsoft.com/office/drawing/2014/main" id="{0963FE5B-8802-29F3-07F9-50F9E651CD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4" y="1056324"/>
            <a:ext cx="3390900" cy="2286000"/>
          </a:xfrm>
          <a:prstGeom prst="rect">
            <a:avLst/>
          </a:prstGeom>
        </p:spPr>
      </p:pic>
      <p:pic>
        <p:nvPicPr>
          <p:cNvPr id="21" name="Picture 20" descr="A screenshot of a computer&#10;&#10;Description automatically generated">
            <a:extLst>
              <a:ext uri="{FF2B5EF4-FFF2-40B4-BE49-F238E27FC236}">
                <a16:creationId xmlns:a16="http://schemas.microsoft.com/office/drawing/2014/main" id="{3C331605-0B5E-D194-C0CE-CB4B0C160E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8923" y="2987014"/>
            <a:ext cx="3060677" cy="2109385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0911C8B-CCEC-D622-EA04-96222820A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4" y="1101864"/>
            <a:ext cx="33909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64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83B3-28BC-146B-074F-5BCBAED5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3095" y="-437870"/>
            <a:ext cx="3908475" cy="121215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400" kern="1200" dirty="0">
                <a:latin typeface="+mj-lt"/>
                <a:ea typeface="+mj-ea"/>
                <a:cs typeface="+mj-cs"/>
              </a:rPr>
              <a:t>Challenges</a:t>
            </a:r>
          </a:p>
        </p:txBody>
      </p:sp>
      <p:pic>
        <p:nvPicPr>
          <p:cNvPr id="7" name="Picture 6" descr="A green and orange object in a container&#10;&#10;Description automatically generated">
            <a:extLst>
              <a:ext uri="{FF2B5EF4-FFF2-40B4-BE49-F238E27FC236}">
                <a16:creationId xmlns:a16="http://schemas.microsoft.com/office/drawing/2014/main" id="{41FE85DC-CAD2-65F9-B9DC-BC7DD4ECD6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43" b="3"/>
          <a:stretch/>
        </p:blipFill>
        <p:spPr>
          <a:xfrm>
            <a:off x="20" y="-14121"/>
            <a:ext cx="4075465" cy="2591634"/>
          </a:xfrm>
          <a:prstGeom prst="rect">
            <a:avLst/>
          </a:prstGeom>
        </p:spPr>
      </p:pic>
      <p:pic>
        <p:nvPicPr>
          <p:cNvPr id="9" name="Picture 8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E72CFDEE-3D3D-B976-66B9-83A35B8BE7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62" b="1"/>
          <a:stretch/>
        </p:blipFill>
        <p:spPr>
          <a:xfrm>
            <a:off x="20" y="2566392"/>
            <a:ext cx="4075466" cy="258587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923615DC-F5A3-677C-DB79-DA387F11F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5143500"/>
            <a:chOff x="12068638" y="0"/>
            <a:chExt cx="123362" cy="68580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CB2E658-9767-8805-2BCB-63F4F3AEC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EA709A9-EE8C-7D2E-43D2-E8A342BA0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34BC2-31B2-3ABF-79D5-E8E5ED320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8179" y="1016187"/>
            <a:ext cx="3908476" cy="25858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/>
            <a:r>
              <a:rPr lang="en-US" sz="1200" dirty="0">
                <a:effectLst/>
              </a:rPr>
              <a:t>When the nest gets separated into two parts, a mask for the second part is not generated.</a:t>
            </a:r>
          </a:p>
          <a:p>
            <a:pPr indent="-228600" defTabSz="914400"/>
            <a:r>
              <a:rPr lang="en-US" sz="1200" dirty="0">
                <a:effectLst/>
              </a:rPr>
              <a:t>Missing values in the CSV file are due to the mouse being occluded by the nest.</a:t>
            </a:r>
          </a:p>
          <a:p>
            <a:pPr indent="-228600" defTabSz="914400"/>
            <a:r>
              <a:rPr lang="en-US" sz="1200" dirty="0"/>
              <a:t>Despite labeling 175 frames with each body part at least 75 times, random pose estimations persisted, and cage corners were occasionally misidentified as the "back" body part.</a:t>
            </a:r>
          </a:p>
          <a:p>
            <a:pPr indent="-228600" defTabSz="914400"/>
            <a:r>
              <a:rPr lang="en-US" sz="1200" dirty="0"/>
              <a:t>Possible causes include color limitations in videos or insufficient training epochs (100k).</a:t>
            </a:r>
          </a:p>
          <a:p>
            <a:pPr indent="-228600" defTabSz="914400"/>
            <a:r>
              <a:rPr lang="en-US" sz="1200" dirty="0"/>
              <a:t>Training took 2-3 days, while analyzing a 60-minute video required around half a day.</a:t>
            </a:r>
            <a:endParaRPr lang="en-US" sz="1200" dirty="0">
              <a:effectLst/>
            </a:endParaRPr>
          </a:p>
          <a:p>
            <a:pPr indent="-228600" defTabSz="914400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89264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219C5-3CF4-1F20-A820-E8D4ADA6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CB2A-18E4-5813-68DA-5B0B24F19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490"/>
            <a:ext cx="7886700" cy="87063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1F076A-DF49-76F6-752A-5137082474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5586422"/>
              </p:ext>
            </p:extLst>
          </p:nvPr>
        </p:nvGraphicFramePr>
        <p:xfrm>
          <a:off x="628650" y="960120"/>
          <a:ext cx="8111490" cy="3431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7186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5C418-48F0-BEDD-D7B9-C3A294E7D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BFEDA-837D-D70F-565B-ECF6DD26D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Developed an end-to-end, automated pipeline that combines SAM2 segmentation, </a:t>
            </a:r>
            <a:r>
              <a:rPr lang="en-US" dirty="0" err="1"/>
              <a:t>DeepLabCut</a:t>
            </a:r>
            <a:r>
              <a:rPr lang="en-US" dirty="0"/>
              <a:t> pose estimation, and a Random Forest classifier to </a:t>
            </a:r>
            <a:r>
              <a:rPr lang="en-US" b="1" dirty="0"/>
              <a:t>identify behavioral transitions</a:t>
            </a:r>
            <a:r>
              <a:rPr lang="en-US" dirty="0"/>
              <a:t> and </a:t>
            </a:r>
            <a:r>
              <a:rPr lang="en-US" b="1" dirty="0"/>
              <a:t>measure their time intervals</a:t>
            </a:r>
            <a:r>
              <a:rPr lang="en-US" dirty="0"/>
              <a:t> without manual annotation.</a:t>
            </a:r>
          </a:p>
          <a:p>
            <a:r>
              <a:rPr lang="en-US" dirty="0"/>
              <a:t>Our approach </a:t>
            </a:r>
            <a:r>
              <a:rPr lang="en-US" b="1" dirty="0"/>
              <a:t>eliminates the need for labor-intensive human labeling</a:t>
            </a:r>
            <a:r>
              <a:rPr lang="en-US" dirty="0"/>
              <a:t>, dramatically reducing researcher workload and turnaround time.</a:t>
            </a:r>
          </a:p>
          <a:p>
            <a:r>
              <a:rPr lang="en-US" dirty="0"/>
              <a:t>By focusing on generalizable geometric and posture features, the system remains </a:t>
            </a:r>
            <a:r>
              <a:rPr lang="en-US" b="1" dirty="0"/>
              <a:t>adaptable across different species.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654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0B5BF247-5ED1-864D-2F6C-EAD484B6A8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824" r="23176"/>
          <a:stretch/>
        </p:blipFill>
        <p:spPr>
          <a:xfrm>
            <a:off x="437342" y="916897"/>
            <a:ext cx="3756971" cy="422660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2521" cy="51435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C1578-656D-5BC1-7A1D-4147DC207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5528" y="2189667"/>
            <a:ext cx="3368865" cy="25858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buNone/>
            </a:pPr>
            <a:r>
              <a:rPr lang="en-US" sz="48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263276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3">
      <a:dk1>
        <a:srgbClr val="BBE4FF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>
            <a:latin typeface="Century Gothic" charset="0"/>
            <a:ea typeface="Century Gothic" charset="0"/>
            <a:cs typeface="Century Gothic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4059</TotalTime>
  <Words>1081</Words>
  <Application>Microsoft Macintosh PowerPoint</Application>
  <PresentationFormat>On-screen Show (16:9)</PresentationFormat>
  <Paragraphs>117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Office Theme</vt:lpstr>
      <vt:lpstr>1_Office Theme</vt:lpstr>
      <vt:lpstr>PowerPoint Presentation</vt:lpstr>
      <vt:lpstr>Introduction</vt:lpstr>
      <vt:lpstr>Target Behaviors</vt:lpstr>
      <vt:lpstr>Background</vt:lpstr>
      <vt:lpstr>Dataset</vt:lpstr>
      <vt:lpstr>Methodology</vt:lpstr>
      <vt:lpstr>Object Detection</vt:lpstr>
      <vt:lpstr>Geometric metrics</vt:lpstr>
      <vt:lpstr>Geometric metrics</vt:lpstr>
      <vt:lpstr>Behavior Tagging</vt:lpstr>
      <vt:lpstr>Animal Pose Detection</vt:lpstr>
      <vt:lpstr>Random forest for Decision tree</vt:lpstr>
      <vt:lpstr>Ran decision tree on new video ( 1 hour)</vt:lpstr>
      <vt:lpstr>Challenges</vt:lpstr>
      <vt:lpstr>Future Work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Autumn B Baskin</dc:creator>
  <cp:lastModifiedBy>Madhu Sudhan Reddy Konda</cp:lastModifiedBy>
  <cp:revision>23</cp:revision>
  <dcterms:created xsi:type="dcterms:W3CDTF">2017-01-25T17:21:46Z</dcterms:created>
  <dcterms:modified xsi:type="dcterms:W3CDTF">2025-05-01T23:42:20Z</dcterms:modified>
</cp:coreProperties>
</file>